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83800"/>
  </p:normalViewPr>
  <p:slideViewPr>
    <p:cSldViewPr snapToGrid="0" snapToObjects="1">
      <p:cViewPr varScale="1">
        <p:scale>
          <a:sx n="90" d="100"/>
          <a:sy n="90" d="100"/>
        </p:scale>
        <p:origin x="76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3909-65C3-3447-8947-08A4261D1676}" type="datetimeFigureOut">
              <a:rPr kumimoji="1" lang="zh-CN" altLang="en-US" smtClean="0"/>
              <a:t>2026/4/21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F08E0-F7FE-0B4C-BC33-4256D807B5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031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大家好 非常荣幸受邀来参加这次大会，我是来自蚂蚁集团的邓勇。我这次带来的分享主题是：</a:t>
            </a:r>
            <a:r>
              <a:rPr kumimoji="1" lang="en-US" altLang="zh-CN" dirty="0"/>
              <a:t>DR-Venus-4B. </a:t>
            </a:r>
            <a:r>
              <a:rPr kumimoji="1" lang="zh-CN" altLang="en-US" dirty="0"/>
              <a:t>最强端侧</a:t>
            </a:r>
            <a:r>
              <a:rPr kumimoji="1" lang="en-US" altLang="zh-CN" dirty="0"/>
              <a:t>DeepResearch</a:t>
            </a:r>
            <a:r>
              <a:rPr kumimoji="1" lang="zh-CN" altLang="en-US" dirty="0"/>
              <a:t>模型。这个是我们昨天刚开源出来的一个专注于端侧场景的</a:t>
            </a:r>
            <a:r>
              <a:rPr kumimoji="1" lang="en-US" altLang="zh-CN" dirty="0"/>
              <a:t>4B</a:t>
            </a:r>
            <a:r>
              <a:rPr kumimoji="1" lang="zh-CN" altLang="en-US" dirty="0"/>
              <a:t> 参数的</a:t>
            </a:r>
            <a:r>
              <a:rPr kumimoji="1" lang="en-US" altLang="zh-CN" dirty="0"/>
              <a:t>DeepResearch</a:t>
            </a:r>
            <a:r>
              <a:rPr kumimoji="1" lang="zh-CN" altLang="en-US" dirty="0"/>
              <a:t>模型。至于为什么是最强？这个我要解释一下。 </a:t>
            </a:r>
            <a:r>
              <a:rPr kumimoji="1" lang="en-US" altLang="zh-CN" dirty="0"/>
              <a:t>Search agent </a:t>
            </a:r>
            <a:r>
              <a:rPr kumimoji="1" lang="zh-CN" altLang="en-US" dirty="0"/>
              <a:t>场景目前有两个公认最难的两个</a:t>
            </a:r>
            <a:r>
              <a:rPr kumimoji="1" lang="en-US" altLang="zh-CN" dirty="0" err="1"/>
              <a:t>BenchMark</a:t>
            </a:r>
            <a:r>
              <a:rPr kumimoji="1" lang="en-US" altLang="zh-CN" dirty="0"/>
              <a:t> : </a:t>
            </a:r>
            <a:r>
              <a:rPr kumimoji="1" lang="en-US" altLang="zh-CN" dirty="0" err="1"/>
              <a:t>BrowsereComp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BrowsereComp-zh</a:t>
            </a:r>
            <a:r>
              <a:rPr kumimoji="1" lang="en-US" altLang="zh-CN" dirty="0"/>
              <a:t> </a:t>
            </a:r>
            <a:r>
              <a:rPr kumimoji="1" lang="zh-CN" altLang="en-US" dirty="0"/>
              <a:t>上面，我们是</a:t>
            </a:r>
            <a:r>
              <a:rPr kumimoji="1" lang="en-US" altLang="zh-CN" dirty="0"/>
              <a:t>32B</a:t>
            </a:r>
            <a:r>
              <a:rPr kumimoji="1" lang="zh-CN" altLang="en-US" dirty="0"/>
              <a:t>以下目前效果最好的模型。这里贴上了我们的</a:t>
            </a:r>
            <a:r>
              <a:rPr kumimoji="1" lang="en-US" altLang="zh-CN" dirty="0" err="1"/>
              <a:t>github</a:t>
            </a:r>
            <a:r>
              <a:rPr kumimoji="1" lang="zh-CN" altLang="en-US" dirty="0"/>
              <a:t>链接，大家感兴趣的可以关注一下。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285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接下来是本次分享的目录。整体分为四部分：首先介绍研究背景，包括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的流程、挑战和问题定义；然后就是核心技术部分，主要是两点 一个是高效可扩展数据清洗与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框架，还有就是在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Long-horizon tasks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如何做好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过程奖励机制。第三章节我会展示实验结果与分析；最后就是一个总结部分。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343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1" dirty="0">
                <a:solidFill>
                  <a:srgbClr val="FFFFFF"/>
                </a:solidFill>
              </a:rPr>
              <a:t>Deep Research Agent </a:t>
            </a:r>
            <a:r>
              <a:rPr lang="zh-CN" altLang="en-US" sz="1200" b="1" dirty="0">
                <a:solidFill>
                  <a:srgbClr val="FFFFFF"/>
                </a:solidFill>
              </a:rPr>
              <a:t>典型流程 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我们从研究背景开始。这里展示的是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的典型流程。整体来看，它通常从用户提出复杂问题开始，先进行推理与规划，然后通过搜索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获取外部信息，接着对网页内容进行浏览和证据提取，反复重复上面的流程，最后综合多源信息生成最终答案。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与一般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agent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的区别，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更强调深度搜索 和信息整合，因此本质上是一个典型的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long-horizon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决策问题。葡萄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search-agent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最长可能只能做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次的一个工具调用。而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Deep-Research agent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能做到几百次的工具调用，对信息的搜索更加全面。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398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FFFF"/>
                </a:solidFill>
              </a:rPr>
              <a:t>核心挑战与方案概览 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这里主要讲的是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面向小模型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的三类核心挑战：数据、算法和基础设施。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在数据侧高质量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和轨迹数据非常有限，因此重点通过多阶段数据清洗、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Turn-Aware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重采样以及规模化构造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SFT/RL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数据，提升数据质量和利用效率。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在算法侧，长程任务下传统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奖励稀疏、收敛慢。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IGPO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设计了信息增益的过程奖励、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Turn-Level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格式惩罚和折扣累计奖励，从而提升长轨迹任务中的训练稳定性和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 assignment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效果。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侧，由于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依赖多轮推理、反复调用搜索和浏览工具两个工具，因此需要构建完整的训练、推理和评测闭环系统。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总体来说，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的方案是一个从 数据到算法再到系统 的完整优化框架，这也是它能在仅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参数、约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开放数据条件下取得强表现的关键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612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atinLnBrk="1"/>
                <a:r>
                  <a:rPr lang="zh-CN" altLang="en-US" sz="1200" b="1" dirty="0">
                    <a:solidFill>
                      <a:srgbClr val="FFFFFF"/>
                    </a:solidFill>
                  </a:rPr>
                  <a:t>问题形式化定义：</a:t>
                </a:r>
                <a:endParaRPr lang="en-US" altLang="zh-CN" sz="1200" b="1" dirty="0">
                  <a:solidFill>
                    <a:srgbClr val="FFFFFF"/>
                  </a:solidFill>
                </a:endParaRPr>
              </a:p>
              <a:p>
                <a:pPr latinLnBrk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定问题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𝑞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，模型通过多轮 推理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动作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环境反馈 生成完整轨迹。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动作空间主要包括 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Search</a:t>
                </a:r>
                <a:r>
                  <a:rPr lang="zh-CN" altLang="e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Browse/Visit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Answer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三类。</a:t>
                </a:r>
              </a:p>
              <a:p>
                <a:pPr latinLnBrk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对应地，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DR-Venus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的目标分两步：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SFT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先从监督轨迹中学会基本的搜索与推理能力，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RL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再进一步提升长程执行稳定性。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dirty="0">
                    <a:solidFill>
                      <a:srgbClr val="C8C8D2"/>
                    </a:solidFill>
                  </a:rPr>
                  <a:t>核心问题：如何在有限的开放数据监督下，训练出强力的边缘端 </a:t>
                </a:r>
                <a:r>
                  <a:rPr lang="en" altLang="zh-CN" sz="1200" b="0" dirty="0">
                    <a:solidFill>
                      <a:srgbClr val="C8C8D2"/>
                    </a:solidFill>
                  </a:rPr>
                  <a:t>Deep Research Agent</a:t>
                </a:r>
                <a:r>
                  <a:rPr lang="zh-CN" altLang="en" sz="1200" b="0" dirty="0">
                    <a:solidFill>
                      <a:srgbClr val="C8C8D2"/>
                    </a:solidFill>
                  </a:rPr>
                  <a:t>？</a:t>
                </a:r>
                <a:r>
                  <a:rPr lang="zh-CN" altLang="en-US" sz="1200" b="0" dirty="0">
                    <a:solidFill>
                      <a:srgbClr val="C8C8D2"/>
                    </a:solidFill>
                  </a:rPr>
                  <a:t>本质上是提升数据质量和提高数据利用效率的问题。</a:t>
                </a:r>
              </a:p>
              <a:p>
                <a:endParaRPr kumimoji="1"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atinLnBrk="1"/>
                <a:r>
                  <a:rPr lang="zh-CN" altLang="en-US" sz="1200" b="1" dirty="0">
                    <a:solidFill>
                      <a:srgbClr val="FFFFFF"/>
                    </a:solidFill>
                  </a:rPr>
                  <a:t>问题形式化定义：</a:t>
                </a:r>
                <a:endParaRPr lang="en-US" altLang="zh-CN" sz="1200" b="1" dirty="0">
                  <a:solidFill>
                    <a:srgbClr val="FFFFFF"/>
                  </a:solidFill>
                </a:endParaRPr>
              </a:p>
              <a:p>
                <a:pPr latinLnBrk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定问题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，模型通过多轮 推理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动作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环境反馈 生成完整轨迹。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动作空间主要包括 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Search</a:t>
                </a:r>
                <a:r>
                  <a:rPr lang="zh-CN" altLang="e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、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Browse/Visit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和 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Answer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三类。</a:t>
                </a:r>
              </a:p>
              <a:p>
                <a:pPr latinLnBrk="1"/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对应地，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DR-Venus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的目标分两步：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SFT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先从监督轨迹中学会基本的搜索与推理能力，</a:t>
                </a:r>
                <a:r>
                  <a:rPr lang="e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RL 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再进一步提升长程执行稳定性。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dirty="0">
                    <a:solidFill>
                      <a:srgbClr val="C8C8D2"/>
                    </a:solidFill>
                  </a:rPr>
                  <a:t>核心问题：如何在有限的开放数据监督下，训练出强力的边缘端 </a:t>
                </a:r>
                <a:r>
                  <a:rPr lang="en" altLang="zh-CN" sz="1200" b="0" dirty="0">
                    <a:solidFill>
                      <a:srgbClr val="C8C8D2"/>
                    </a:solidFill>
                  </a:rPr>
                  <a:t>Deep Research Agent</a:t>
                </a:r>
                <a:r>
                  <a:rPr lang="zh-CN" altLang="en" sz="1200" b="0" dirty="0">
                    <a:solidFill>
                      <a:srgbClr val="C8C8D2"/>
                    </a:solidFill>
                  </a:rPr>
                  <a:t>？</a:t>
                </a:r>
                <a:r>
                  <a:rPr lang="zh-CN" altLang="en-US" sz="1200" b="0" dirty="0">
                    <a:solidFill>
                      <a:srgbClr val="C8C8D2"/>
                    </a:solidFill>
                  </a:rPr>
                  <a:t>本质上是提升数据质量和提高数据利用效率的问题。</a:t>
                </a:r>
              </a:p>
              <a:p>
                <a:endParaRPr kumimoji="1"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2230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FFFF"/>
                </a:solidFill>
              </a:rPr>
              <a:t>方法总览：两阶段训练方案</a:t>
            </a:r>
          </a:p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采用两阶段训练。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第一阶段用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SFT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做能力初始化，重点是数据清洗、环境对齐、重采样和正确性过滤。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第二阶段用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RL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做能力稳定化，通过信息增益奖励和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turn-level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奖励设计，提升长程执行效果。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核心结论是：在开放数据有限的条件下，数据质量和利用效率比单纯堆数据更重要。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2385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FFFF"/>
                </a:solidFill>
              </a:rPr>
              <a:t>研究一：数据清洗管线 </a:t>
            </a:r>
            <a:r>
              <a:rPr lang="en-US" altLang="zh-CN" sz="1200" b="1" dirty="0">
                <a:solidFill>
                  <a:srgbClr val="FFFFFF"/>
                </a:solidFill>
              </a:rPr>
              <a:t>— </a:t>
            </a:r>
            <a:r>
              <a:rPr lang="zh-CN" altLang="en-US" sz="1200" b="1" dirty="0">
                <a:solidFill>
                  <a:srgbClr val="FFFFFF"/>
                </a:solidFill>
              </a:rPr>
              <a:t>提升数据质量</a:t>
            </a:r>
            <a:endParaRPr lang="en-US" altLang="zh-CN" sz="1200" b="1" dirty="0">
              <a:solidFill>
                <a:srgbClr val="FFFFFF"/>
              </a:solidFill>
            </a:endParaRPr>
          </a:p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在第一阶段，怎么通过数据清洗来提升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数据质量？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我们有一个核心判断是：小模型比大模型更怕脏数据，尤其是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long-horizon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轨迹里常见的格式不一致、无效工具调用、重复操作和错误答案，都会直接影响训练效果。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具体来说，这里分五步。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第一步是环境对齐，把所有轨迹统一成和实际推理部署一致的交互格式，减少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train-test mismatch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第二步是非法工具剪枝，因为运行环境里只保留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所以把其他工具调用去掉。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第三步是重复调用去除，主要清理重复的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减少无意义监督。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第四步是正确性过滤，只保留最终答案正确的轨迹，保证监督信号可靠。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第五步是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Turn-Aware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重采样，对长轨迹样本提高权重，因为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更依赖长程规划和多步证据整合。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>
              <a:solidFill>
                <a:srgbClr val="FFFFFF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5965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1" dirty="0">
                <a:solidFill>
                  <a:srgbClr val="FFFFFF"/>
                </a:solidFill>
              </a:rPr>
              <a:t>Turn-Aware </a:t>
            </a:r>
            <a:r>
              <a:rPr lang="zh-CN" altLang="en-US" sz="1200" b="1" dirty="0">
                <a:solidFill>
                  <a:srgbClr val="FFFFFF"/>
                </a:solidFill>
              </a:rPr>
              <a:t>重采样 </a:t>
            </a:r>
            <a:r>
              <a:rPr lang="en-US" altLang="zh-CN" sz="1200" b="1" dirty="0">
                <a:solidFill>
                  <a:srgbClr val="FFFFFF"/>
                </a:solidFill>
              </a:rPr>
              <a:t>— </a:t>
            </a:r>
            <a:r>
              <a:rPr lang="zh-CN" altLang="en-US" sz="1200" b="1" dirty="0">
                <a:solidFill>
                  <a:srgbClr val="FFFFFF"/>
                </a:solidFill>
              </a:rPr>
              <a:t>提升数据利用效率</a:t>
            </a:r>
          </a:p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本质上是一个长程任务，真正有价值的监督往往来自长轨迹，因为里面包含更多多轮工具交互、证据聚合和持续规划过程。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所以在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里，他们没有平均使用所有样本，而是按轨迹长度分层加权：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提高到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以上提高到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这样做之后，长轨迹在训练集里的占比明显提升，尤其是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以上的样本都被显著放大。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这里想说明的是，在开放数据有限的情况下，关键不只是“有多少数据”，而是“把监督集中到最有价值的部分”。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目标本身还是标准的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next-token prediction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只对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计算损失，不对环境返回的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计算损失。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736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rgbClr val="FFFFFF"/>
                </a:solidFill>
              </a:rPr>
              <a:t>为什么小模型对数据质量更敏感</a:t>
            </a:r>
            <a:endParaRPr lang="en-US" altLang="zh-CN" sz="1200" b="1" dirty="0">
              <a:solidFill>
                <a:srgbClr val="FFFFFF"/>
              </a:solidFill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第一，小模型容量更小，容错能力弱，没法像大模型那样自动忽略格式噪声和坏模式；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第二，长轨迹里的单步错误会不断传播，最后影响整条轨迹的执行；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第三，噪声监督更容易挤占本来有限的有效学习空间。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所以这里强调，像环境对齐这样的清洗步骤，对小模型尤其重要。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因为如果训练格式和推理格式不一致，小模型往往学不会稳定泛化，而是直接在部署时出错。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dirty="0">
                <a:solidFill>
                  <a:srgbClr val="C8C8D2"/>
                </a:solidFill>
              </a:rPr>
              <a:t>为什么不用更多数据？对小模型而言 </a:t>
            </a:r>
            <a:r>
              <a:rPr lang="en" altLang="zh-CN" sz="1200" dirty="0">
                <a:solidFill>
                  <a:srgbClr val="C8C8D2"/>
                </a:solidFill>
              </a:rPr>
              <a:t>Quality &gt; Quantity</a:t>
            </a:r>
            <a:r>
              <a:rPr lang="zh-CN" altLang="en" sz="1200" dirty="0">
                <a:solidFill>
                  <a:srgbClr val="C8C8D2"/>
                </a:solidFill>
              </a:rPr>
              <a:t>。</a:t>
            </a:r>
            <a:r>
              <a:rPr lang="zh-CN" altLang="en-US" sz="1200" dirty="0">
                <a:solidFill>
                  <a:srgbClr val="C8C8D2"/>
                </a:solidFill>
              </a:rPr>
              <a:t>我们的实验表明，</a:t>
            </a:r>
            <a:r>
              <a:rPr lang="en-US" altLang="zh-CN" sz="1200" dirty="0">
                <a:solidFill>
                  <a:srgbClr val="C8C8D2"/>
                </a:solidFill>
              </a:rPr>
              <a:t>10</a:t>
            </a:r>
            <a:r>
              <a:rPr lang="en" altLang="zh-CN" sz="1200" dirty="0">
                <a:solidFill>
                  <a:srgbClr val="C8C8D2"/>
                </a:solidFill>
              </a:rPr>
              <a:t>K</a:t>
            </a:r>
            <a:r>
              <a:rPr lang="zh-CN" altLang="en-US" sz="1200" dirty="0">
                <a:solidFill>
                  <a:srgbClr val="C8C8D2"/>
                </a:solidFill>
              </a:rPr>
              <a:t>高质量轨迹优于</a:t>
            </a:r>
            <a:r>
              <a:rPr lang="en-US" altLang="zh-CN" sz="1200" dirty="0">
                <a:solidFill>
                  <a:srgbClr val="C8C8D2"/>
                </a:solidFill>
              </a:rPr>
              <a:t>100</a:t>
            </a:r>
            <a:r>
              <a:rPr lang="en" altLang="zh-CN" sz="1200" dirty="0">
                <a:solidFill>
                  <a:srgbClr val="C8C8D2"/>
                </a:solidFill>
              </a:rPr>
              <a:t>K</a:t>
            </a:r>
            <a:r>
              <a:rPr lang="zh-CN" altLang="en-US" sz="1200" dirty="0">
                <a:solidFill>
                  <a:srgbClr val="C8C8D2"/>
                </a:solidFill>
              </a:rPr>
              <a:t>噪声轨迹（</a:t>
            </a:r>
            <a:r>
              <a:rPr lang="en-US" altLang="zh-CN" sz="1200" dirty="0">
                <a:solidFill>
                  <a:srgbClr val="C8C8D2"/>
                </a:solidFill>
              </a:rPr>
              <a:t>4</a:t>
            </a:r>
            <a:r>
              <a:rPr lang="en" altLang="zh-CN" sz="1200" dirty="0">
                <a:solidFill>
                  <a:srgbClr val="C8C8D2"/>
                </a:solidFill>
              </a:rPr>
              <a:t>B</a:t>
            </a:r>
            <a:r>
              <a:rPr lang="zh-CN" altLang="en-US" sz="1200" dirty="0">
                <a:solidFill>
                  <a:srgbClr val="C8C8D2"/>
                </a:solidFill>
              </a:rPr>
              <a:t>模型），而</a:t>
            </a:r>
            <a:r>
              <a:rPr lang="en-US" altLang="zh-CN" sz="1200" dirty="0">
                <a:solidFill>
                  <a:srgbClr val="C8C8D2"/>
                </a:solidFill>
              </a:rPr>
              <a:t>30</a:t>
            </a:r>
            <a:r>
              <a:rPr lang="en" altLang="zh-CN" sz="1200" dirty="0">
                <a:solidFill>
                  <a:srgbClr val="C8C8D2"/>
                </a:solidFill>
              </a:rPr>
              <a:t>B+</a:t>
            </a:r>
            <a:r>
              <a:rPr lang="zh-CN" altLang="en-US" sz="1200" dirty="0">
                <a:solidFill>
                  <a:srgbClr val="C8C8D2"/>
                </a:solidFill>
              </a:rPr>
              <a:t>模型则相反。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6193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zh-CN" altLang="en-US" sz="1200" b="1" dirty="0">
                <a:solidFill>
                  <a:srgbClr val="FFFFFF"/>
                </a:solidFill>
              </a:rPr>
              <a:t>高效过程奖励机制：</a:t>
            </a:r>
            <a:endParaRPr lang="en-US" altLang="zh-CN" sz="1200" b="1" dirty="0">
              <a:solidFill>
                <a:srgbClr val="FFFFFF"/>
              </a:solidFill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传统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在长程任务里有一个很大的问题：奖励太稀疏。通常只有整条轨迹最后答对了，所有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才拿正奖励；答错了，就都拿负奖励。这样会导致监督非常粗糙。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更严重的是，小模型在长轨迹任务里成功率本来就低，很多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rollout group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里可能一条成功轨迹都没有，这时候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全部接近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，就会出现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 collapse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训练几乎没有有效梯度，数据也被浪费了。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的改进思路是，不再只依赖最后结果，而是给每一步提供更密集的过程奖励。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他们采用的是 信息增益奖励，用来衡量当前这一步是不是让模型更接近正确答案。这样即使最终没完全答对，中间有价值的搜索和浏览步骤也能得到训练信号。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856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rgbClr val="FFFFFF"/>
                </a:solidFill>
              </a:rPr>
              <a:t>IGPO</a:t>
            </a:r>
            <a:r>
              <a:rPr lang="zh-CN" altLang="en-US" sz="1200" b="1" dirty="0">
                <a:solidFill>
                  <a:srgbClr val="FFFFFF"/>
                </a:solidFill>
              </a:rPr>
              <a:t>基于信息增益的内在过程奖励</a:t>
            </a:r>
          </a:p>
          <a:p>
            <a:pPr latinLnBrk="1"/>
            <a:b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它的核心思想很直观：看当前这一步交互之后，模型对正确答案的置信度有没有提升。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如果提升了，说明这一步搜索、浏览或推理是有价值的，就应该得到正向奖励。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这个设计有几个好处。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第一，它是内在奖励，不需要额外训练一个奖励模型；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第二，它能提供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turn-level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的稠密信号，每一轮交互都可能有反馈，不再只看最终结果；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第三，实现相对简单稳定，本质上就是比较前后两次对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 truth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 probability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我们在这里海做了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browse-aware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的分配策略。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往往比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暴露出更具体的证据，所以他们主要在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turn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上计算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再把奖励分配给前面的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turn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这样可以减少噪声，让奖励更贴近真正有效的信息获取过程。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7910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1" dirty="0">
                <a:solidFill>
                  <a:srgbClr val="FFFFFF"/>
                </a:solidFill>
              </a:rPr>
              <a:t>Turn-Level </a:t>
            </a:r>
            <a:r>
              <a:rPr lang="zh-CN" altLang="en-US" sz="1200" b="1" dirty="0">
                <a:solidFill>
                  <a:srgbClr val="FFFFFF"/>
                </a:solidFill>
              </a:rPr>
              <a:t>奖励设计细节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第一部分是格式惩罚：如果当前轮格式正确，就保留原始奖励；如果格式错误，就直接替换成负惩罚。这样可以更精细地约束模型的工具调用和输出格式，而不是像传统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trajectory-level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惩罚那样一刀切。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第二部分是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IG-Scale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因为过程奖励和最终结果奖励的尺度可能不一致，尤其在超长任务里，最终答对的样本很少，模型容易过度依赖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信号。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所以作者会对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奖励做一个按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 reward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尺度的重缩放，让训练更平衡、更稳定。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第三部分是折扣累积奖励。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原因是长程任务里，当前这一步的价值不仅体现在眼前，还会影响后续很多轮。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所以他们用折扣因子把未来奖励累积回来，让每一轮都能接收到带有长期效果的信息，这对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 assignment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很关键。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6265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Qwen3-4B-Thinking-2507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backbone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先做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SFT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再做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RL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阶段主要是在长上下文条件下进行多轮监督训练，最大长度到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token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重点是把长轨迹能力先学出来。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阶段使用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IGPO++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上下文进一步扩到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并支持多条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rollout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长轮次交互和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turn-level reward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优化。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推理时，系统最多支持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步交互，总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budget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并配合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和总结模型一起工作。</a:t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不只是方法设计，还有一套能真正支撑长程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训练和推理的工程实现。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6644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FFFF"/>
                </a:solidFill>
              </a:rPr>
              <a:t>整体性能对比：六大</a:t>
            </a:r>
            <a:r>
              <a:rPr lang="en" altLang="zh-CN" sz="1200" b="1" dirty="0">
                <a:solidFill>
                  <a:srgbClr val="FFFFFF"/>
                </a:solidFill>
              </a:rPr>
              <a:t>Benchmark</a:t>
            </a:r>
          </a:p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在六个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上的整体性能。核心结论有三个。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DR-Venus-4B-SFT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已经是一个非常强的小模型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在大多数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上超过已有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B–9B agent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第二，加入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DR-Venus-4B-RL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基本达到 ≤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范围内的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SOTA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尤其在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BrowseComp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BrowseComp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-ZH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xBench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DeepSearchQA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上提升明显。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第三，更重要的是，我们的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模型已经在多个指标上接近甚至超过部分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级开源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说明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的性能不只取决于模型规模，数据质量、长轨迹利用方式，以及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奖励设计同样关键。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这也正是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3091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rgbClr val="6366F1"/>
                </a:solidFill>
              </a:rPr>
              <a:t>实验分析</a:t>
            </a:r>
            <a:endParaRPr lang="en-US" altLang="zh-CN" sz="1200" b="1" dirty="0">
              <a:solidFill>
                <a:srgbClr val="6366F1"/>
              </a:solidFill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不是简单的“预热步骤”，而是真正决定小模型上限的能力初始化阶段。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也就是说，在开放数据有限、模型只有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的情况下，先把 高质量的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agentic SFT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做好，本身就能带来非常强的性能提升，甚至比单纯扩大模型规模更重要。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C8C8D2"/>
                </a:solidFill>
              </a:rPr>
              <a:t>在有限开放数据监督下，模型规模不是决定性因素。数据的清洗、对齐和利用方式同样重要，甚至更为关键。精心设计的</a:t>
            </a:r>
            <a:r>
              <a:rPr lang="en" altLang="zh-CN" sz="1200" b="0" dirty="0">
                <a:solidFill>
                  <a:srgbClr val="C8C8D2"/>
                </a:solidFill>
              </a:rPr>
              <a:t>SFT</a:t>
            </a:r>
            <a:r>
              <a:rPr lang="zh-CN" altLang="en-US" sz="1200" b="0" dirty="0">
                <a:solidFill>
                  <a:srgbClr val="C8C8D2"/>
                </a:solidFill>
              </a:rPr>
              <a:t>管线可以在</a:t>
            </a:r>
            <a:r>
              <a:rPr lang="en-US" altLang="zh-CN" sz="1200" b="0" dirty="0">
                <a:solidFill>
                  <a:srgbClr val="C8C8D2"/>
                </a:solidFill>
              </a:rPr>
              <a:t>4</a:t>
            </a:r>
            <a:r>
              <a:rPr lang="en" altLang="zh-CN" sz="1200" b="0" dirty="0">
                <a:solidFill>
                  <a:srgbClr val="C8C8D2"/>
                </a:solidFill>
              </a:rPr>
              <a:t>B</a:t>
            </a:r>
            <a:r>
              <a:rPr lang="zh-CN" altLang="en-US" sz="1200" b="0" dirty="0">
                <a:solidFill>
                  <a:srgbClr val="C8C8D2"/>
                </a:solidFill>
              </a:rPr>
              <a:t>模型上解锁远超预期的性能。</a:t>
            </a:r>
          </a:p>
          <a:p>
            <a:br>
              <a:rPr lang="zh-CN" altLang="en-US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9990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1" dirty="0">
                <a:solidFill>
                  <a:srgbClr val="FFFFFF"/>
                </a:solidFill>
              </a:rPr>
              <a:t>RL </a:t>
            </a:r>
            <a:r>
              <a:rPr lang="zh-CN" altLang="en-US" sz="1200" b="1" dirty="0">
                <a:solidFill>
                  <a:srgbClr val="FFFFFF"/>
                </a:solidFill>
              </a:rPr>
              <a:t>作为能力稳定化 </a:t>
            </a:r>
            <a:r>
              <a:rPr lang="en-US" altLang="zh-CN" sz="1200" b="1" dirty="0">
                <a:solidFill>
                  <a:srgbClr val="FFFFFF"/>
                </a:solidFill>
              </a:rPr>
              <a:t>— </a:t>
            </a:r>
            <a:r>
              <a:rPr lang="en" altLang="zh-CN" sz="1200" b="1" dirty="0" err="1">
                <a:solidFill>
                  <a:srgbClr val="FFFFFF"/>
                </a:solidFill>
              </a:rPr>
              <a:t>Pass@K</a:t>
            </a:r>
            <a:r>
              <a:rPr lang="en" altLang="zh-CN" sz="1200" b="1" dirty="0">
                <a:solidFill>
                  <a:srgbClr val="FFFFFF"/>
                </a:solidFill>
              </a:rPr>
              <a:t> </a:t>
            </a:r>
            <a:r>
              <a:rPr lang="zh-CN" altLang="en-US" sz="1200" b="1" dirty="0">
                <a:solidFill>
                  <a:srgbClr val="FFFFFF"/>
                </a:solidFill>
              </a:rPr>
              <a:t>分析</a:t>
            </a:r>
          </a:p>
          <a:p>
            <a:endParaRPr kumimoji="1" lang="en-US" altLang="zh-CN" dirty="0"/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这张表展示的是同一个模型在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SFT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 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两个阶段下的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Pass@K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表现。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最关键的现象是：</a:t>
            </a:r>
          </a:p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越小，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带来的收益越大；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越大，收益逐渐收敛。</a:t>
            </a:r>
            <a:endParaRPr kumimoji="1" lang="en-US" altLang="zh-CN" dirty="0"/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这个模式非常值得强调，因为它揭示了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的真正角色。</a:t>
            </a:r>
            <a:r>
              <a:rPr lang="zh-CN" altLang="en-US" dirty="0"/>
              <a:t>如果 </a:t>
            </a:r>
            <a:r>
              <a:rPr lang="en" altLang="zh-CN" dirty="0"/>
              <a:t>RL </a:t>
            </a:r>
            <a:r>
              <a:rPr lang="zh-CN" altLang="en-US" dirty="0"/>
              <a:t>的主要作用是“提升能力上限”，那么我们会预期： 不仅 </a:t>
            </a:r>
            <a:r>
              <a:rPr lang="en" altLang="zh-CN" dirty="0"/>
              <a:t>Pass@1 </a:t>
            </a:r>
            <a:r>
              <a:rPr lang="zh-CN" altLang="en-US" dirty="0"/>
              <a:t>提升明显 </a:t>
            </a:r>
            <a:r>
              <a:rPr lang="en" altLang="zh-CN" dirty="0"/>
              <a:t>Pass@8</a:t>
            </a:r>
            <a:r>
              <a:rPr lang="zh-CN" altLang="en" dirty="0"/>
              <a:t>、</a:t>
            </a:r>
            <a:r>
              <a:rPr lang="en" altLang="zh-CN" dirty="0"/>
              <a:t>Pass@16 </a:t>
            </a:r>
            <a:r>
              <a:rPr lang="zh-CN" altLang="en-US" dirty="0"/>
              <a:t>也应该持续大幅增长 但实际看到的不是这样。 真正发生的是： </a:t>
            </a:r>
            <a:r>
              <a:rPr lang="en" altLang="zh-CN" dirty="0"/>
              <a:t>Pass@1 / Pass@4 </a:t>
            </a:r>
            <a:r>
              <a:rPr lang="zh-CN" altLang="en-US" dirty="0"/>
              <a:t>提升最明显 到 </a:t>
            </a:r>
            <a:r>
              <a:rPr lang="en" altLang="zh-CN" dirty="0"/>
              <a:t>Pass@16 </a:t>
            </a:r>
            <a:r>
              <a:rPr lang="zh-CN" altLang="en-US" dirty="0"/>
              <a:t>时提升已经很小 这意味着什么？ </a:t>
            </a:r>
            <a:r>
              <a:rPr lang="en" altLang="zh-CN" dirty="0"/>
              <a:t>SFT </a:t>
            </a:r>
            <a:r>
              <a:rPr lang="zh-CN" altLang="en-US" dirty="0"/>
              <a:t>模型其实已经具备相当强的潜在能力，只是这种能力没有那么稳定地在单次 </a:t>
            </a:r>
            <a:r>
              <a:rPr lang="en" altLang="zh-CN" dirty="0"/>
              <a:t>rollout </a:t>
            </a:r>
            <a:r>
              <a:rPr lang="zh-CN" altLang="en-US" dirty="0"/>
              <a:t>中出现。 换句话说，</a:t>
            </a:r>
            <a:r>
              <a:rPr lang="en" altLang="zh-CN" dirty="0"/>
              <a:t>SFT </a:t>
            </a:r>
            <a:r>
              <a:rPr lang="zh-CN" altLang="en-US" dirty="0"/>
              <a:t>模型“偶尔能做对很多题”，但 </a:t>
            </a:r>
            <a:r>
              <a:rPr lang="en" altLang="zh-CN" dirty="0"/>
              <a:t>RL </a:t>
            </a:r>
            <a:r>
              <a:rPr lang="zh-CN" altLang="en-US" dirty="0"/>
              <a:t>让它变成“更经常第一次就做对”。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6958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小模型的潜在能力上限，远比大家通常想象的要高。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如果只看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Pass@1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大家会觉得小模型和大模型差距明显；但一旦做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Pass@K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分析，就会发现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模型的能力边界其实很高。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比如在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BrowseComp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DR-Venus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已经超过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Tongyi-DR-30B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Pass@10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GPT-5 High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Pass@14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Gemini-3-Pro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BrowseComp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-ZH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Pass@2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就已经超过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Tongyi-DR-30B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这说明小模型不是不会做复杂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而是单次尝试触发成功轨迹的概率更低。一旦允许多次采样，也就是做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test-time scaling</a:t>
            </a:r>
            <a:r>
              <a:rPr lang="zh-CN" alt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这些潜在能力就会被释放出来。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从工程角度看，这个结论非常重要。对于很多可异步执行、允许多次尝试的研究类任务，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模型可能是一个极具性价比的选择：它成本更低、延迟更小、部署更灵活，而且通过多次采样依然可以达到很强的效果。</a:t>
            </a: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所以这页的核心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是：小模型的上限可能被严重低估了，而我们的方法证明了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已经具备对标前沿模型的潜力。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6203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几乎所有数据集都呈现出同一个趋势：</a:t>
            </a:r>
          </a:p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方面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错误轨迹的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ratio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更高：</a:t>
            </a:r>
          </a:p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方面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ratio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则相反，正确轨迹更高：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这个差距非常有意义，因为它说明：</a:t>
            </a: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成功不是来自于搜得更多，而是来自于更愿意深入页面、获取真实证据。最关键的洞察是：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主要提供线索，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才真正提供证据。</a:t>
            </a:r>
          </a:p>
          <a:p>
            <a:endParaRPr lang="en-US" altLang="zh-CN" dirty="0"/>
          </a:p>
          <a:p>
            <a:br>
              <a:rPr lang="zh-CN" altLang="en-US" dirty="0"/>
            </a:b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3067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在开放数据非常有限的条件下，小模型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依然可以做到很强，关键不只是模型规模，而是数据质量、数据利用效率，以及适合长时程任务的稠密过程奖励。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agent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场景里，数据噪声的伤害会被放大，所以第一步不是盲目加数据，而是先把数据“洗干净”。</a:t>
            </a:r>
          </a:p>
          <a:p>
            <a:br>
              <a:rPr lang="zh-CN" altLang="en-US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7220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谢谢大家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F08E0-F7FE-0B4C-BC33-4256D807B5CA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388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clusionAI/dr-venu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9477"/>
            <a:ext cx="1371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DR-Venus</a:t>
            </a:r>
            <a:r>
              <a:rPr lang="en-US" altLang="zh-CN" sz="4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-4B</a:t>
            </a:r>
            <a:endParaRPr sz="4800" b="1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548569"/>
            <a:ext cx="137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Venus Team, Ant Group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056EA79-594C-0ADD-758D-A227239DD5E3}"/>
              </a:ext>
            </a:extLst>
          </p:cNvPr>
          <p:cNvSpPr txBox="1"/>
          <p:nvPr/>
        </p:nvSpPr>
        <p:spPr>
          <a:xfrm>
            <a:off x="457200" y="3776246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邓勇</a:t>
            </a:r>
            <a:endParaRPr sz="1600" b="0" dirty="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5CC9203-3D6E-0D14-EC68-83ECC6B5A6FB}"/>
              </a:ext>
            </a:extLst>
          </p:cNvPr>
          <p:cNvSpPr txBox="1"/>
          <p:nvPr/>
        </p:nvSpPr>
        <p:spPr>
          <a:xfrm>
            <a:off x="457200" y="2893116"/>
            <a:ext cx="1371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最强端侧 </a:t>
            </a:r>
            <a:r>
              <a:rPr lang="en-US" altLang="zh-CN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DeepResearch</a:t>
            </a:r>
            <a:r>
              <a:rPr lang="zh-CN" altLang="en-US" sz="20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</a:p>
          <a:p>
            <a:pPr algn="ctr"/>
            <a:endParaRPr sz="2000" b="0" u="sng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A1235E8F-F2C3-FC32-61B0-DC111097BA38}"/>
              </a:ext>
            </a:extLst>
          </p:cNvPr>
          <p:cNvSpPr txBox="1"/>
          <p:nvPr/>
        </p:nvSpPr>
        <p:spPr>
          <a:xfrm>
            <a:off x="4697261" y="5262818"/>
            <a:ext cx="5235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16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hlinkClick r:id="rId3"/>
              </a:rPr>
              <a:t>github.com/inclusionAI/dr-venus</a:t>
            </a:r>
            <a:endParaRPr lang="en" altLang="zh-CN" sz="1600" b="1" u="sng" dirty="0">
              <a:solidFill>
                <a:schemeClr val="tx1">
                  <a:lumMod val="50000"/>
                  <a:lumOff val="50000"/>
                </a:schemeClr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02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5731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目录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49224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6126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FFFFFF"/>
                </a:solidFill>
              </a:rPr>
              <a:t>研究背景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606040"/>
            <a:ext cx="612648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Deep Research Agent</a:t>
            </a:r>
            <a:r>
              <a:rPr lang="zh-CN" altLang="en-US"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典型流程</a:t>
            </a:r>
            <a:endParaRPr sz="1100" b="0" dirty="0">
              <a:solidFill>
                <a:srgbClr val="C8C8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核心挑战与方案概览</a:t>
            </a:r>
          </a:p>
          <a:p>
            <a:pPr>
              <a:spcAft>
                <a:spcPts val="800"/>
              </a:spcAft>
            </a:pPr>
            <a:r>
              <a:rPr lang="en-US" altLang="zh-CN"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问题形式化定义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828800"/>
            <a:ext cx="6492240" cy="21031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92024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148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核心技术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606040"/>
            <a:ext cx="612648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研究一：高效可扩展的数据清洗与</a:t>
            </a:r>
            <a:r>
              <a:rPr lang="en" altLang="zh-CN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SFT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框架</a:t>
            </a:r>
            <a:endParaRPr sz="1100" b="0" dirty="0">
              <a:solidFill>
                <a:srgbClr val="C8C8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研究二：高效的过程奖励机制设计 </a:t>
            </a:r>
            <a:endParaRPr sz="1100" b="0" dirty="0">
              <a:solidFill>
                <a:srgbClr val="C8C8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206240"/>
            <a:ext cx="649224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297679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526279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983479"/>
            <a:ext cx="6126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C8C8D2"/>
                </a:solidFill>
              </a:rPr>
              <a:t>• 整体Benchmark性能对比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8C8D2"/>
                </a:solidFill>
              </a:rPr>
              <a:t>• SFT作为能力初始化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8C8D2"/>
                </a:solidFill>
              </a:rPr>
              <a:t>• RL作为能力稳定化 (Pass@K分析)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C8C8D2"/>
                </a:solidFill>
              </a:rPr>
              <a:t>• 工具使用模式分析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4206240"/>
            <a:ext cx="649224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4297679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</a:rPr>
              <a:t>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526279"/>
            <a:ext cx="6126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>
                <a:solidFill>
                  <a:srgbClr val="FFFFFF"/>
                </a:solidFill>
              </a:rPr>
              <a:t>总结</a:t>
            </a:r>
          </a:p>
          <a:p>
            <a:pPr algn="l"/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2360" y="4983479"/>
            <a:ext cx="612648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</a:t>
            </a:r>
            <a:r>
              <a:rPr lang="zh-CN" altLang="en-US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关键贡献与</a:t>
            </a:r>
            <a:r>
              <a:rPr lang="en" altLang="zh-CN" sz="1100" dirty="0">
                <a:solidFill>
                  <a:srgbClr val="C8C8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Takeaways</a:t>
            </a:r>
            <a:endParaRPr sz="1100" b="0" dirty="0">
              <a:solidFill>
                <a:srgbClr val="C8C8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sz="1100" b="0" dirty="0">
              <a:solidFill>
                <a:srgbClr val="C8C8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365" y="90805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Deep Research Agent </a:t>
            </a:r>
            <a:r>
              <a:rPr sz="3000" b="1" dirty="0" err="1">
                <a:solidFill>
                  <a:srgbClr val="FFFFFF"/>
                </a:solidFill>
              </a:rPr>
              <a:t>典型流程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91640" y="193294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用户问题 Complex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40" y="193294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210312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</a:rPr>
              <a:t>推理 </a:t>
            </a:r>
            <a:r>
              <a:rPr lang="en-US" altLang="zh-CN" sz="1100" b="1" dirty="0">
                <a:solidFill>
                  <a:srgbClr val="FFFFFF"/>
                </a:solidFill>
              </a:rPr>
              <a:t>&amp; </a:t>
            </a:r>
            <a:r>
              <a:rPr lang="zh-CN" altLang="en-US" sz="1100" b="1" dirty="0">
                <a:solidFill>
                  <a:srgbClr val="FFFFFF"/>
                </a:solidFill>
              </a:rPr>
              <a:t>规划 </a:t>
            </a:r>
          </a:p>
          <a:p>
            <a:pPr algn="ctr"/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93294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搜索 Search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93294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10312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</a:rPr>
              <a:t>浏览 </a:t>
            </a:r>
            <a:r>
              <a:rPr lang="en" altLang="zh-CN" sz="1100" b="1" dirty="0">
                <a:solidFill>
                  <a:srgbClr val="FFFFFF"/>
                </a:solidFill>
              </a:rPr>
              <a:t>Browse &amp; Extract</a:t>
            </a:r>
          </a:p>
          <a:p>
            <a:pPr algn="ctr"/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835640" y="193294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2103120"/>
            <a:ext cx="2103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</a:rPr>
              <a:t>综合回答 </a:t>
            </a:r>
            <a:r>
              <a:rPr lang="en" altLang="zh-CN" sz="1100" b="1" dirty="0">
                <a:solidFill>
                  <a:srgbClr val="FFFFFF"/>
                </a:solidFill>
              </a:rPr>
              <a:t>Final Answer</a:t>
            </a:r>
          </a:p>
          <a:p>
            <a:pPr algn="ctr"/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355981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4269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9989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多轮搜索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6565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通过搜索API获取外部知识，反复迭代检索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55981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371225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dirty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0302" y="4199890"/>
            <a:ext cx="1936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6366F1"/>
                </a:solidFill>
              </a:rPr>
              <a:t>深度浏览 </a:t>
            </a:r>
            <a:r>
              <a:rPr lang="en" altLang="zh-CN" sz="1400" b="1" dirty="0">
                <a:solidFill>
                  <a:srgbClr val="6366F1"/>
                </a:solidFill>
              </a:rPr>
              <a:t>Browse</a:t>
            </a:r>
          </a:p>
          <a:p>
            <a:pPr algn="ctr"/>
            <a:endParaRPr sz="1400" b="1" dirty="0">
              <a:solidFill>
                <a:srgbClr val="6366F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12080" y="456565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从网页中提取细粒度证据，支撑推理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355981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374269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419989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证据综合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56565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整合多源证据，生成结构化研究报告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58510"/>
            <a:ext cx="13350240" cy="7315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5995670"/>
            <a:ext cx="1298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核心特征：不同于标准QA，Deep Research Agent 不能仅依赖参数化知识 — 它必须通过50-200+轮的交互主动获取、整合外部信息，是一个典型的长程决策问题。</a:t>
            </a:r>
          </a:p>
        </p:txBody>
      </p:sp>
      <p:sp>
        <p:nvSpPr>
          <p:cNvPr id="32" name="下弧形箭头 31">
            <a:extLst>
              <a:ext uri="{FF2B5EF4-FFF2-40B4-BE49-F238E27FC236}">
                <a16:creationId xmlns:a16="http://schemas.microsoft.com/office/drawing/2014/main" id="{98CDCD8F-6815-B22C-4370-2D6D6FF1E350}"/>
              </a:ext>
            </a:extLst>
          </p:cNvPr>
          <p:cNvSpPr/>
          <p:nvPr/>
        </p:nvSpPr>
        <p:spPr>
          <a:xfrm>
            <a:off x="5257800" y="1441132"/>
            <a:ext cx="4343400" cy="314325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下弧形箭头 32">
            <a:extLst>
              <a:ext uri="{FF2B5EF4-FFF2-40B4-BE49-F238E27FC236}">
                <a16:creationId xmlns:a16="http://schemas.microsoft.com/office/drawing/2014/main" id="{E681ED50-A2FF-D8FD-3EA3-3D1F362F83E7}"/>
              </a:ext>
            </a:extLst>
          </p:cNvPr>
          <p:cNvSpPr/>
          <p:nvPr/>
        </p:nvSpPr>
        <p:spPr>
          <a:xfrm rot="10800000">
            <a:off x="4989754" y="2726966"/>
            <a:ext cx="4611445" cy="379611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66158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核心挑战与方案概览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数据侧挑战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缺乏高质量的QA数据以及轨迹数据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算法侧挑战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长程任务下标准GRPO收敛慢、数据利用效率低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Infra侧挑战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需要构建支撑训练、推理等全流程的基建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我们的方案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77639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C8C8D2"/>
                </a:solidFill>
              </a:rPr>
              <a:t>我们的方案：从0到1构建了完整的评估和训练流程，支撑算法迭代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核心技术一：高效可扩展的数据框架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Turn-Aware重采样策略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规模化生产SFT和RL的训练数据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核心技术二：高效过程奖励机制 ICLR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84632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基于信息增益(IG)的内在过程奖励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 + IGPO++优化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178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问题形式化定义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交互轨迹 (Trajectory)： 给定用户查询 q，Agent 生成交互轨迹： H = (q, (u1, o1), (u2, o2), ..., (uT-1, oT-1), uT) 其中 ut = (τt, at) 为第t轮输出，τt 为推理过程，at ∈ A 为动作。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动作空间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Search：通过搜索API检索外部知识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Browse/Visit：访问网页提取细粒度证据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Answer：综合证据生成最终回答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核心优化目标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1 (SFT)：从监督轨迹学习基本能力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2 (RL)：通过强化学习提升执行稳定性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关键约束：仅有 ~10K 开放轨迹数据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623560"/>
            <a:ext cx="12984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核心问题：如何在有限的开放数据监督下，训练出强力的边缘端 </a:t>
            </a:r>
            <a:r>
              <a:rPr lang="en" altLang="zh-CN" sz="1200" dirty="0">
                <a:solidFill>
                  <a:srgbClr val="C8C8D2"/>
                </a:solidFill>
              </a:rPr>
              <a:t>Deep Research Agent</a:t>
            </a:r>
            <a:r>
              <a:rPr lang="zh-CN" altLang="en" sz="1200" dirty="0">
                <a:solidFill>
                  <a:srgbClr val="C8C8D2"/>
                </a:solidFill>
              </a:rPr>
              <a:t>？</a:t>
            </a:r>
            <a:r>
              <a:rPr lang="zh-CN" altLang="en-US" sz="1400" b="1" u="sng" dirty="0">
                <a:solidFill>
                  <a:srgbClr val="C8C8D2"/>
                </a:solidFill>
              </a:rPr>
              <a:t>本质上是提升数据质量和提高数据利用效率的问题。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82055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方法总览：两阶段训练方案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开放数据 REDSearcher Trajectories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1: Agentic SFT 能力初始化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2: Agentic RL 能力稳定化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DR-Venus 前沿4B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 — 能力初始化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多阶段严格数据清洗管线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环境对齐 (Environment Alignment)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正确性过滤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 — 能力稳定化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004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信息增益 (IG) 内在奖励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IGPO++策略优化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核心洞察：SFT 初始化能力天花板，RL 降低执行方差。在有限数据下，提升数据质量和数据利用效率至关重要 — Quality &gt; Quantity for small models。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88682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研究一：数据清洗管线 </a:t>
            </a:r>
            <a:r>
              <a:rPr lang="en-US" altLang="zh-CN" sz="3000" b="1" dirty="0">
                <a:solidFill>
                  <a:srgbClr val="FFFFFF"/>
                </a:solidFill>
              </a:rPr>
              <a:t>— </a:t>
            </a:r>
            <a:r>
              <a:rPr lang="zh-CN" altLang="en-US" sz="3000" b="1" dirty="0">
                <a:solidFill>
                  <a:srgbClr val="FFFFFF"/>
                </a:solidFill>
              </a:rPr>
              <a:t>提升数据质量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288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环境对齐 Environment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488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将所有轨迹统一到推理管线相同的交互格式（消息schema、系统提示、工具调用格式），减少训练-推理不匹配。10,001 → 10,001 条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7432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非法工具剪枝 Disallowed-Tool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0632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移除非search/visit的工具调用（如PythonInterpreter）。影响1,064条轨迹，移除3,378个非法工具调用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6576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重复调用去除 Duplicate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977639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移除重复的search/visit调用及其配对响应。影响6,821条轨迹，移除15,728个重复交互（主要为重复visit事件）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5720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正确性过滤 Correctness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892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使用 Qwen3-235B-A22B 判断最终答案正确性。10,000 → 9,365 条 (93.65% 保留率)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4864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Turn-Aware重采样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806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对长程轨迹进行上采样，提升有效数据利用。9,365 → 18,745 实例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6502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Turn-Aware</a:t>
            </a:r>
            <a:r>
              <a:rPr lang="zh-CN" altLang="en-US" sz="3000" b="1" dirty="0">
                <a:solidFill>
                  <a:srgbClr val="FFFFFF"/>
                </a:solidFill>
              </a:rPr>
              <a:t>重采样</a:t>
            </a:r>
            <a:r>
              <a:rPr sz="3000" b="1" dirty="0">
                <a:solidFill>
                  <a:srgbClr val="FFFFFF"/>
                </a:solidFill>
              </a:rPr>
              <a:t>—</a:t>
            </a:r>
            <a:r>
              <a:rPr lang="zh-CN" altLang="en-US" sz="3000" b="1" dirty="0">
                <a:solidFill>
                  <a:srgbClr val="FFFFFF"/>
                </a:solidFill>
              </a:rPr>
              <a:t>提升数据利用效率</a:t>
            </a:r>
            <a:endParaRPr sz="3000" b="1" dirty="0">
              <a:solidFill>
                <a:srgbClr val="FFFF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轨迹长度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采样权重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重采样前占比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重采样后占比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0-50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39.72%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19.85%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↓ 19.87%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51-100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46.94%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&gt;100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13.29%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33.21%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↑ 19.92%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148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核心逻辑：长程轨迹包含更多有价值的监督信号 — 重复工具交互、证据聚合、持续规划。重采样将 &gt;50 turns 的占比从 60.28% 提升至 80.15%。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SFT训练目标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4406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SFT训练目标： LSFT(θ) = - ΣH ∈ DSFT Σi ∈ M(H) log πθ(xi | x&lt;i) 其中 M(H) 为Agent生成的token位置（推理 τt 和动作 at），排除环境观测 ot。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97952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为什么小模型对数据质量更敏感？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小模型的敏感性分析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噪声放大：格式错误在长轨迹中级联传播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容量有限：无法像大模型一样"忽略"坏模式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灾难性遗忘：更容易被噪声数据覆盖有用知识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错误传播：单轮错误影响后续所有动作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数据清洗统计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2286000"/>
          <a:ext cx="6537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原始轨迹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工具剪枝后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去重后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正确性过滤后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9,365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重采样后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18,745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38912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52628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核心洞察：环境对齐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0060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将所有轨迹统一到与推理管线完全相同的交互格式（消息schema、系统提示、工具调用参数）。这减少了训练-推理不匹配 — 对小模型而言尤为关键，因为小模型无法像大模型那样跨格式变化泛化。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623560"/>
            <a:ext cx="1298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为什么不用更多数据？对小模型而言 </a:t>
            </a:r>
            <a:r>
              <a:rPr lang="en" altLang="zh-CN" sz="1200" dirty="0">
                <a:solidFill>
                  <a:srgbClr val="C8C8D2"/>
                </a:solidFill>
              </a:rPr>
              <a:t>Quality &gt; Quantity</a:t>
            </a:r>
            <a:r>
              <a:rPr lang="zh-CN" altLang="en" sz="1200" dirty="0">
                <a:solidFill>
                  <a:srgbClr val="C8C8D2"/>
                </a:solidFill>
              </a:rPr>
              <a:t>。</a:t>
            </a:r>
            <a:r>
              <a:rPr lang="zh-CN" altLang="en-US" sz="1200" dirty="0">
                <a:solidFill>
                  <a:srgbClr val="C8C8D2"/>
                </a:solidFill>
              </a:rPr>
              <a:t>我们的实验表明，</a:t>
            </a:r>
            <a:r>
              <a:rPr lang="en-US" altLang="zh-CN" sz="1200" dirty="0">
                <a:solidFill>
                  <a:srgbClr val="C8C8D2"/>
                </a:solidFill>
              </a:rPr>
              <a:t>10</a:t>
            </a:r>
            <a:r>
              <a:rPr lang="en" altLang="zh-CN" sz="1200" dirty="0">
                <a:solidFill>
                  <a:srgbClr val="C8C8D2"/>
                </a:solidFill>
              </a:rPr>
              <a:t>K</a:t>
            </a:r>
            <a:r>
              <a:rPr lang="zh-CN" altLang="en-US" sz="1200" dirty="0">
                <a:solidFill>
                  <a:srgbClr val="C8C8D2"/>
                </a:solidFill>
              </a:rPr>
              <a:t>高质量轨迹优于</a:t>
            </a:r>
            <a:r>
              <a:rPr lang="en-US" altLang="zh-CN" sz="1200" dirty="0">
                <a:solidFill>
                  <a:srgbClr val="C8C8D2"/>
                </a:solidFill>
              </a:rPr>
              <a:t>100</a:t>
            </a:r>
            <a:r>
              <a:rPr lang="en" altLang="zh-CN" sz="1200" dirty="0">
                <a:solidFill>
                  <a:srgbClr val="C8C8D2"/>
                </a:solidFill>
              </a:rPr>
              <a:t>K</a:t>
            </a:r>
            <a:r>
              <a:rPr lang="zh-CN" altLang="en-US" sz="1200" dirty="0">
                <a:solidFill>
                  <a:srgbClr val="C8C8D2"/>
                </a:solidFill>
              </a:rPr>
              <a:t>噪声轨迹（</a:t>
            </a:r>
            <a:r>
              <a:rPr lang="en-US" altLang="zh-CN" sz="1200" dirty="0">
                <a:solidFill>
                  <a:srgbClr val="C8C8D2"/>
                </a:solidFill>
              </a:rPr>
              <a:t>4</a:t>
            </a:r>
            <a:r>
              <a:rPr lang="en" altLang="zh-CN" sz="1200" dirty="0">
                <a:solidFill>
                  <a:srgbClr val="C8C8D2"/>
                </a:solidFill>
              </a:rPr>
              <a:t>B</a:t>
            </a:r>
            <a:r>
              <a:rPr lang="zh-CN" altLang="en-US" sz="1200" dirty="0">
                <a:solidFill>
                  <a:srgbClr val="C8C8D2"/>
                </a:solidFill>
              </a:rPr>
              <a:t>模型），而</a:t>
            </a:r>
            <a:r>
              <a:rPr lang="en-US" altLang="zh-CN" sz="1200" dirty="0">
                <a:solidFill>
                  <a:srgbClr val="C8C8D2"/>
                </a:solidFill>
              </a:rPr>
              <a:t>30</a:t>
            </a:r>
            <a:r>
              <a:rPr lang="en" altLang="zh-CN" sz="1200" dirty="0">
                <a:solidFill>
                  <a:srgbClr val="C8C8D2"/>
                </a:solidFill>
              </a:rPr>
              <a:t>B+</a:t>
            </a:r>
            <a:r>
              <a:rPr lang="zh-CN" altLang="en-US" sz="1200" dirty="0">
                <a:solidFill>
                  <a:srgbClr val="C8C8D2"/>
                </a:solidFill>
              </a:rPr>
              <a:t>模型则相反。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AB8DD-121B-752D-4807-FE3F9ADE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E7B98B-08C1-CBB8-8D63-07A6E60EC2C9}"/>
              </a:ext>
            </a:extLst>
          </p:cNvPr>
          <p:cNvSpPr/>
          <p:nvPr/>
        </p:nvSpPr>
        <p:spPr>
          <a:xfrm>
            <a:off x="0" y="34290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65D9A-4F63-96B8-B8DC-F9F39C311219}"/>
              </a:ext>
            </a:extLst>
          </p:cNvPr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39DA5F-41BE-A9C5-81A0-7FA2D397AA5D}"/>
              </a:ext>
            </a:extLst>
          </p:cNvPr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A6B1F-E2B4-4ACC-C2D7-C4E5EB05B4C2}"/>
              </a:ext>
            </a:extLst>
          </p:cNvPr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10 / 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5A3A6-3C55-A536-840E-93F4BABFA126}"/>
              </a:ext>
            </a:extLst>
          </p:cNvPr>
          <p:cNvSpPr txBox="1"/>
          <p:nvPr/>
        </p:nvSpPr>
        <p:spPr>
          <a:xfrm>
            <a:off x="640080" y="1188720"/>
            <a:ext cx="490711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研究二：高效过程奖励机制 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78E72-2B85-3469-4161-EE1D1DB0BA1A}"/>
              </a:ext>
            </a:extLst>
          </p:cNvPr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经典 Agentic RL 训练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8EC1C-16F6-30AC-B074-B7D3A9A2ADD3}"/>
              </a:ext>
            </a:extLst>
          </p:cNvPr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整条轨迹正确 → 所有token正奖励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整条轨迹错误 → 所有token负奖励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问题：大量数据没有梯度！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9CA6F-D514-6703-5412-95E74030673D}"/>
              </a:ext>
            </a:extLst>
          </p:cNvPr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现有过程奖励方法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B1945-1855-C830-D9A8-F56498F3248A}"/>
              </a:ext>
            </a:extLst>
          </p:cNvPr>
          <p:cNvSpPr txBox="1"/>
          <p:nvPr/>
        </p:nvSpPr>
        <p:spPr>
          <a:xfrm>
            <a:off x="745236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需要额外训练奖励模型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推理成本高、延迟大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长程场景下判断困难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问题：低效 &amp; 高成本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577CFE-23DB-E07E-B390-0666F4D83B0F}"/>
              </a:ext>
            </a:extLst>
          </p:cNvPr>
          <p:cNvSpPr/>
          <p:nvPr/>
        </p:nvSpPr>
        <p:spPr>
          <a:xfrm>
            <a:off x="457200" y="3678674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27689-621E-CA84-8371-696C9E12F6E5}"/>
              </a:ext>
            </a:extLst>
          </p:cNvPr>
          <p:cNvSpPr txBox="1"/>
          <p:nvPr/>
        </p:nvSpPr>
        <p:spPr>
          <a:xfrm>
            <a:off x="822959" y="3838694"/>
            <a:ext cx="617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❌ </a:t>
            </a:r>
            <a:r>
              <a:rPr lang="en" altLang="zh-CN" sz="1200" dirty="0">
                <a:solidFill>
                  <a:srgbClr val="C8C8D2"/>
                </a:solidFill>
              </a:rPr>
              <a:t>Advantage Collapse</a:t>
            </a:r>
            <a:br>
              <a:rPr lang="en" altLang="zh-CN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当同组所有轨迹结果相同时，</a:t>
            </a:r>
            <a:r>
              <a:rPr lang="en" altLang="zh-CN" sz="1200" dirty="0">
                <a:solidFill>
                  <a:srgbClr val="C8C8D2"/>
                </a:solidFill>
              </a:rPr>
              <a:t>Advantage</a:t>
            </a:r>
            <a:r>
              <a:rPr lang="zh-CN" altLang="en-US" sz="1200" dirty="0">
                <a:solidFill>
                  <a:srgbClr val="C8C8D2"/>
                </a:solidFill>
              </a:rPr>
              <a:t>全为</a:t>
            </a:r>
            <a:r>
              <a:rPr lang="en-US" altLang="zh-CN" sz="1200" dirty="0">
                <a:solidFill>
                  <a:srgbClr val="C8C8D2"/>
                </a:solidFill>
              </a:rPr>
              <a:t>0</a:t>
            </a:r>
            <a:r>
              <a:rPr lang="zh-CN" altLang="en-US" sz="1200" dirty="0">
                <a:solidFill>
                  <a:srgbClr val="C8C8D2"/>
                </a:solidFill>
              </a:rPr>
              <a:t>，没有梯度信号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长程任务中正确答案稀少，多数组内轨迹全错 → 大量数据浪费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4CACC3-4AEE-5492-04D6-DCCFD57D1D01}"/>
              </a:ext>
            </a:extLst>
          </p:cNvPr>
          <p:cNvSpPr/>
          <p:nvPr/>
        </p:nvSpPr>
        <p:spPr>
          <a:xfrm>
            <a:off x="7269481" y="3636647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FAFC2C-AB0B-0995-734A-3990E62F20B5}"/>
              </a:ext>
            </a:extLst>
          </p:cNvPr>
          <p:cNvSpPr txBox="1"/>
          <p:nvPr/>
        </p:nvSpPr>
        <p:spPr>
          <a:xfrm>
            <a:off x="7452360" y="3815834"/>
            <a:ext cx="617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✅ 我们的方案：</a:t>
            </a:r>
            <a:r>
              <a:rPr lang="en" altLang="zh-CN" sz="1200" dirty="0">
                <a:solidFill>
                  <a:srgbClr val="C8C8D2"/>
                </a:solidFill>
              </a:rPr>
              <a:t>IGPO</a:t>
            </a:r>
            <a:r>
              <a:rPr lang="zh-CN" altLang="en-US" sz="1200" dirty="0">
                <a:solidFill>
                  <a:srgbClr val="C8C8D2"/>
                </a:solidFill>
              </a:rPr>
              <a:t>信息增益奖励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每轮交互都有内在奖励信号，不受结果稀疏性影响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不依赖外部模型，实现简单，训练稳定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07A637B-2D4C-66E0-BBBD-CEFFAE4B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257920"/>
            <a:ext cx="9011920" cy="227504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48FE466-F433-86B6-440D-AB6F7CEDE5C9}"/>
              </a:ext>
            </a:extLst>
          </p:cNvPr>
          <p:cNvSpPr txBox="1"/>
          <p:nvPr/>
        </p:nvSpPr>
        <p:spPr>
          <a:xfrm>
            <a:off x="3155708" y="7721322"/>
            <a:ext cx="804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GRPO</a:t>
            </a:r>
            <a:r>
              <a:rPr lang="zh-CN" altLang="en-US" b="1" dirty="0">
                <a:solidFill>
                  <a:srgbClr val="C00000"/>
                </a:solidFill>
              </a:rPr>
              <a:t>大量数据没有梯度，数据利用效率低下</a:t>
            </a:r>
            <a:r>
              <a:rPr lang="en-US" altLang="zh-CN" b="1" dirty="0">
                <a:solidFill>
                  <a:srgbClr val="C00000"/>
                </a:solidFill>
              </a:rPr>
              <a:t>.IGPO</a:t>
            </a:r>
            <a:r>
              <a:rPr lang="zh-CN" altLang="en-US" b="1" dirty="0">
                <a:solidFill>
                  <a:srgbClr val="C00000"/>
                </a:solidFill>
              </a:rPr>
              <a:t>很好的解决了这个问题</a:t>
            </a:r>
          </a:p>
        </p:txBody>
      </p:sp>
    </p:spTree>
    <p:extLst>
      <p:ext uri="{BB962C8B-B14F-4D97-AF65-F5344CB8AC3E}">
        <p14:creationId xmlns:p14="http://schemas.microsoft.com/office/powerpoint/2010/main" val="210927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0048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019597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FFFFFF"/>
                </a:solidFill>
              </a:rPr>
              <a:t>IGPO</a:t>
            </a:r>
            <a:r>
              <a:rPr lang="zh-CN" altLang="en-US" sz="3000" b="1" dirty="0">
                <a:solidFill>
                  <a:srgbClr val="FFFFFF"/>
                </a:solidFill>
              </a:rPr>
              <a:t>基于信息增益的内在过程奖励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信息增益 (IG) 奖励定义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信息增益 (IG) 奖励定义： 设 ground truth 为 g = (g1, ..., gL)，第t轮交互历史 h≤t： rtIG = log πθ(g | h≤t) - log πθ(g | h≤t-1), 1 ≤ t &lt; T 即：当前轮次使模型对正确答案的置信度提升了多少。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内在奖励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无需外部奖励模型，仅依赖策略自身概率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Turn-Level稠密信号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每轮交互都有奖励，不受结果稀疏性影响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实现简单稳定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只需计算log概率差值，无需额外模型推理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Browse-Aware IG分配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44068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Browse轮次通常暴露更具体的证据，而Search轮次主要是探索性的。我们仅在Browse轮次计算IG奖励，并将其分配给前置的Search轮次，减少噪声信号的干扰。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16171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Turn-Level</a:t>
            </a:r>
            <a:r>
              <a:rPr lang="zh-CN" altLang="en-US" sz="3000" b="1" dirty="0">
                <a:solidFill>
                  <a:srgbClr val="FFFFFF"/>
                </a:solidFill>
              </a:rPr>
              <a:t>奖励设计细节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94965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格式惩罚</a:t>
            </a:r>
            <a:r>
              <a:rPr lang="zh-CN" altLang="en-US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400" dirty="0"/>
              <a:t>:</a:t>
            </a:r>
            <a:r>
              <a:rPr sz="1400" b="1" dirty="0" err="1">
                <a:solidFill>
                  <a:srgbClr val="6366F1"/>
                </a:solidFill>
              </a:rPr>
              <a:t>r̂t</a:t>
            </a:r>
            <a:r>
              <a:rPr sz="1400" b="1" dirty="0">
                <a:solidFill>
                  <a:srgbClr val="6366F1"/>
                </a:solidFill>
              </a:rPr>
              <a:t> = rt, if valid format; otherwise -</a:t>
            </a:r>
            <a:r>
              <a:rPr sz="1400" b="1" dirty="0" err="1">
                <a:solidFill>
                  <a:srgbClr val="6366F1"/>
                </a:solidFill>
              </a:rPr>
              <a:t>λfmt</a:t>
            </a:r>
            <a:r>
              <a:rPr sz="1400" b="1" dirty="0">
                <a:solidFill>
                  <a:srgbClr val="6366F1"/>
                </a:solidFill>
              </a:rPr>
              <a:t> </a:t>
            </a:r>
            <a:r>
              <a:rPr sz="1400" b="1" dirty="0" err="1">
                <a:solidFill>
                  <a:srgbClr val="6366F1"/>
                </a:solidFill>
              </a:rPr>
              <a:t>格式正确的轮次保留原始奖励，格式错误的轮次替换为惩罚项</a:t>
            </a:r>
            <a:r>
              <a:rPr sz="1400" b="1" dirty="0">
                <a:solidFill>
                  <a:srgbClr val="6366F1"/>
                </a:solidFill>
              </a:rPr>
              <a:t> -</a:t>
            </a:r>
            <a:r>
              <a:rPr sz="1400" b="1" dirty="0" err="1">
                <a:solidFill>
                  <a:srgbClr val="6366F1"/>
                </a:solidFill>
              </a:rPr>
              <a:t>λfmt</a:t>
            </a:r>
            <a:r>
              <a:rPr sz="1400" b="1" dirty="0">
                <a:solidFill>
                  <a:srgbClr val="6366F1"/>
                </a:solidFill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72603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" altLang="zh-C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IG-Scale</a:t>
            </a:r>
            <a:r>
              <a:rPr lang="en" altLang="zh-CN" sz="1400" dirty="0"/>
              <a:t>  </a:t>
            </a:r>
            <a:r>
              <a:rPr sz="1400" b="1" dirty="0">
                <a:solidFill>
                  <a:srgbClr val="6366F1"/>
                </a:solidFill>
              </a:rPr>
              <a:t>s = min( max(MO, </a:t>
            </a:r>
            <a:r>
              <a:rPr sz="1400" b="1" dirty="0" err="1">
                <a:solidFill>
                  <a:srgbClr val="6366F1"/>
                </a:solidFill>
              </a:rPr>
              <a:t>η</a:t>
            </a:r>
            <a:r>
              <a:rPr sz="1400" b="1" dirty="0">
                <a:solidFill>
                  <a:srgbClr val="6366F1"/>
                </a:solidFill>
              </a:rPr>
              <a:t>) / (MIG + </a:t>
            </a:r>
            <a:r>
              <a:rPr sz="1400" b="1" dirty="0" err="1">
                <a:solidFill>
                  <a:srgbClr val="6366F1"/>
                </a:solidFill>
              </a:rPr>
              <a:t>δ</a:t>
            </a:r>
            <a:r>
              <a:rPr sz="1400" b="1" dirty="0">
                <a:solidFill>
                  <a:srgbClr val="6366F1"/>
                </a:solidFill>
              </a:rPr>
              <a:t>), </a:t>
            </a:r>
            <a:r>
              <a:rPr sz="1400" b="1" dirty="0" err="1">
                <a:solidFill>
                  <a:srgbClr val="6366F1"/>
                </a:solidFill>
              </a:rPr>
              <a:t>smax</a:t>
            </a:r>
            <a:r>
              <a:rPr sz="1400" b="1" dirty="0">
                <a:solidFill>
                  <a:srgbClr val="6366F1"/>
                </a:solidFill>
              </a:rPr>
              <a:t> ), </a:t>
            </a:r>
            <a:r>
              <a:rPr sz="1400" b="1" dirty="0" err="1">
                <a:solidFill>
                  <a:srgbClr val="6366F1"/>
                </a:solidFill>
              </a:rPr>
              <a:t>r̄t</a:t>
            </a:r>
            <a:r>
              <a:rPr sz="1400" b="1" dirty="0">
                <a:solidFill>
                  <a:srgbClr val="6366F1"/>
                </a:solidFill>
              </a:rPr>
              <a:t> = s · </a:t>
            </a:r>
            <a:r>
              <a:rPr sz="1400" b="1" dirty="0" err="1">
                <a:solidFill>
                  <a:srgbClr val="6366F1"/>
                </a:solidFill>
              </a:rPr>
              <a:t>r̃t</a:t>
            </a:r>
            <a:r>
              <a:rPr sz="1400" b="1" dirty="0">
                <a:solidFill>
                  <a:srgbClr val="6366F1"/>
                </a:solidFill>
              </a:rPr>
              <a:t> (for IG turns) </a:t>
            </a:r>
            <a:r>
              <a:rPr sz="1400" b="1" dirty="0" err="1">
                <a:solidFill>
                  <a:srgbClr val="6366F1"/>
                </a:solidFill>
              </a:rPr>
              <a:t>η</a:t>
            </a:r>
            <a:r>
              <a:rPr sz="1400" b="1" dirty="0">
                <a:solidFill>
                  <a:srgbClr val="6366F1"/>
                </a:solidFill>
              </a:rPr>
              <a:t>=0.3, </a:t>
            </a:r>
            <a:r>
              <a:rPr sz="1400" b="1" dirty="0" err="1">
                <a:solidFill>
                  <a:srgbClr val="6366F1"/>
                </a:solidFill>
              </a:rPr>
              <a:t>δ</a:t>
            </a:r>
            <a:r>
              <a:rPr sz="1400" b="1" dirty="0">
                <a:solidFill>
                  <a:srgbClr val="6366F1"/>
                </a:solidFill>
              </a:rPr>
              <a:t>=10-8, </a:t>
            </a:r>
            <a:r>
              <a:rPr sz="1400" b="1" dirty="0" err="1">
                <a:solidFill>
                  <a:srgbClr val="6366F1"/>
                </a:solidFill>
              </a:rPr>
              <a:t>smax</a:t>
            </a:r>
            <a:r>
              <a:rPr sz="1400" b="1" dirty="0">
                <a:solidFill>
                  <a:srgbClr val="6366F1"/>
                </a:solidFill>
              </a:rPr>
              <a:t>=10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36311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折扣累积奖励</a:t>
            </a:r>
            <a:r>
              <a:rPr lang="en-US" altLang="zh-CN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 </a:t>
            </a:r>
            <a:r>
              <a:rPr sz="1400" b="1" dirty="0" err="1">
                <a:solidFill>
                  <a:srgbClr val="6366F1"/>
                </a:solidFill>
              </a:rPr>
              <a:t>R̃t</a:t>
            </a:r>
            <a:r>
              <a:rPr sz="1400" b="1" dirty="0">
                <a:solidFill>
                  <a:srgbClr val="6366F1"/>
                </a:solidFill>
              </a:rPr>
              <a:t> = </a:t>
            </a:r>
            <a:r>
              <a:rPr sz="1400" b="1" dirty="0" err="1">
                <a:solidFill>
                  <a:srgbClr val="6366F1"/>
                </a:solidFill>
              </a:rPr>
              <a:t>Σk</a:t>
            </a:r>
            <a:r>
              <a:rPr sz="1400" b="1" dirty="0">
                <a:solidFill>
                  <a:srgbClr val="6366F1"/>
                </a:solidFill>
              </a:rPr>
              <a:t>=</a:t>
            </a:r>
            <a:r>
              <a:rPr sz="1400" b="1" dirty="0" err="1">
                <a:solidFill>
                  <a:srgbClr val="6366F1"/>
                </a:solidFill>
              </a:rPr>
              <a:t>tT</a:t>
            </a:r>
            <a:r>
              <a:rPr sz="1400" b="1" dirty="0">
                <a:solidFill>
                  <a:srgbClr val="6366F1"/>
                </a:solidFill>
              </a:rPr>
              <a:t> </a:t>
            </a:r>
            <a:r>
              <a:rPr sz="1400" b="1" dirty="0" err="1">
                <a:solidFill>
                  <a:srgbClr val="6366F1"/>
                </a:solidFill>
              </a:rPr>
              <a:t>γk</a:t>
            </a:r>
            <a:r>
              <a:rPr sz="1400" b="1" dirty="0">
                <a:solidFill>
                  <a:srgbClr val="6366F1"/>
                </a:solidFill>
              </a:rPr>
              <a:t>-t </a:t>
            </a:r>
            <a:r>
              <a:rPr sz="1400" b="1" dirty="0" err="1">
                <a:solidFill>
                  <a:srgbClr val="6366F1"/>
                </a:solidFill>
              </a:rPr>
              <a:t>r̄k</a:t>
            </a:r>
            <a:r>
              <a:rPr sz="1400" b="1" dirty="0">
                <a:solidFill>
                  <a:srgbClr val="6366F1"/>
                </a:solidFill>
              </a:rPr>
              <a:t>, </a:t>
            </a:r>
            <a:r>
              <a:rPr sz="1400" b="1" dirty="0" err="1">
                <a:solidFill>
                  <a:srgbClr val="6366F1"/>
                </a:solidFill>
              </a:rPr>
              <a:t>γ</a:t>
            </a:r>
            <a:r>
              <a:rPr sz="1400" b="1" dirty="0">
                <a:solidFill>
                  <a:srgbClr val="6366F1"/>
                </a:solidFill>
              </a:rPr>
              <a:t>=0.95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1663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为什么需要折扣累积？长程任务中，当前轮次的决策会影响后续多轮。折扣累积提供了包含未来奖励信息的稠密监督信号，是长程信用分配的关键。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实现细节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Qwen3-4B-Thinking-2507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Global 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Length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Sequence Parallel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Size 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003532"/>
              </p:ext>
            </p:extLst>
          </p:nvPr>
        </p:nvGraphicFramePr>
        <p:xfrm>
          <a:off x="745236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rPr dirty="0"/>
                        <a:t>IGPO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vLLM +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Context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256K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Generation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8,192 tokens/turn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Group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Discount γ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rPr dirty="0"/>
                        <a:t>0.95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19" y="5664200"/>
            <a:ext cx="13770293" cy="10287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dirty="0">
                <a:solidFill>
                  <a:srgbClr val="C8C8D2"/>
                </a:solidFill>
              </a:rPr>
              <a:t>Temperature: 1.0 | Top-p: 0.95 | Top-k: 20 | Presence Penalty: 1.1 Max Steps: 200 | Max Token Budget: 256K | Summarization: Qwen3-30B-A3B</a:t>
            </a:r>
          </a:p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2830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" altLang="zh-CN" sz="1400" b="1" dirty="0">
                <a:solidFill>
                  <a:srgbClr val="6366F1"/>
                </a:solidFill>
              </a:rPr>
              <a:t>Inference </a:t>
            </a:r>
            <a:r>
              <a:rPr lang="zh-CN" altLang="en-US" sz="1400" b="1" dirty="0">
                <a:solidFill>
                  <a:srgbClr val="6366F1"/>
                </a:solidFill>
              </a:rPr>
              <a:t>配置</a:t>
            </a:r>
          </a:p>
          <a:p>
            <a:endParaRPr sz="1400" b="1" dirty="0">
              <a:solidFill>
                <a:srgbClr val="6366F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298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6816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FFFFFF"/>
                </a:solidFill>
              </a:rPr>
              <a:t>整体性能对比：六大</a:t>
            </a:r>
            <a:r>
              <a:rPr lang="en" altLang="zh-CN" sz="3000" b="1" dirty="0">
                <a:solidFill>
                  <a:srgbClr val="FFFFFF"/>
                </a:solidFill>
              </a:rPr>
              <a:t>Benchmark</a:t>
            </a:r>
          </a:p>
          <a:p>
            <a:endParaRPr sz="3000" b="1" dirty="0">
              <a:solidFill>
                <a:srgbClr val="FFFF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GAIA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xBench-DS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WebExplorer-8B-RL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AgentCPM-Explore-4B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69.0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64.4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OpenResearcher-30B-A3B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Tongyi-DR-30B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48.5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3350240" cy="8331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58064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FFD700"/>
                </a:solidFill>
              </a:rPr>
              <a:t>核心结果</a:t>
            </a:r>
            <a:endParaRPr sz="1400" b="1" dirty="0">
              <a:solidFill>
                <a:srgbClr val="FFD7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6080760"/>
            <a:ext cx="1298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核心结果：</a:t>
            </a:r>
            <a:r>
              <a:rPr lang="en" altLang="zh-CN" sz="1200" dirty="0">
                <a:solidFill>
                  <a:srgbClr val="C8C8D2"/>
                </a:solidFill>
              </a:rPr>
              <a:t>DR-Venus-4B-SFT </a:t>
            </a:r>
            <a:r>
              <a:rPr lang="zh-CN" altLang="en-US" sz="1200" dirty="0">
                <a:solidFill>
                  <a:srgbClr val="C8C8D2"/>
                </a:solidFill>
              </a:rPr>
              <a:t>在所有 ≤</a:t>
            </a:r>
            <a:r>
              <a:rPr lang="en-US" altLang="zh-CN" sz="1200" dirty="0">
                <a:solidFill>
                  <a:srgbClr val="C8C8D2"/>
                </a:solidFill>
              </a:rPr>
              <a:t>9</a:t>
            </a:r>
            <a:r>
              <a:rPr lang="en" altLang="zh-CN" sz="1200" dirty="0">
                <a:solidFill>
                  <a:srgbClr val="C8C8D2"/>
                </a:solidFill>
              </a:rPr>
              <a:t>B Agent </a:t>
            </a:r>
            <a:r>
              <a:rPr lang="zh-CN" altLang="en-US" sz="1200" dirty="0">
                <a:solidFill>
                  <a:srgbClr val="C8C8D2"/>
                </a:solidFill>
              </a:rPr>
              <a:t>中达到</a:t>
            </a:r>
            <a:r>
              <a:rPr lang="en" altLang="zh-CN" sz="1200" dirty="0">
                <a:solidFill>
                  <a:srgbClr val="C8C8D2"/>
                </a:solidFill>
              </a:rPr>
              <a:t>SOTA</a:t>
            </a:r>
            <a:r>
              <a:rPr lang="zh-CN" altLang="en" sz="1200" dirty="0">
                <a:solidFill>
                  <a:srgbClr val="C8C8D2"/>
                </a:solidFill>
              </a:rPr>
              <a:t>，</a:t>
            </a:r>
            <a:r>
              <a:rPr lang="zh-CN" altLang="en-US" sz="1200" dirty="0">
                <a:solidFill>
                  <a:srgbClr val="C8C8D2"/>
                </a:solidFill>
              </a:rPr>
              <a:t>且在多个指标上超越部分</a:t>
            </a:r>
            <a:r>
              <a:rPr lang="en-US" altLang="zh-CN" sz="1200" dirty="0">
                <a:solidFill>
                  <a:srgbClr val="C8C8D2"/>
                </a:solidFill>
              </a:rPr>
              <a:t>30</a:t>
            </a:r>
            <a:r>
              <a:rPr lang="en" altLang="zh-CN" sz="1200" dirty="0">
                <a:solidFill>
                  <a:srgbClr val="C8C8D2"/>
                </a:solidFill>
              </a:rPr>
              <a:t>B</a:t>
            </a:r>
            <a:r>
              <a:rPr lang="zh-CN" altLang="en-US" sz="1200" dirty="0">
                <a:solidFill>
                  <a:srgbClr val="C8C8D2"/>
                </a:solidFill>
              </a:rPr>
              <a:t>模型（如 </a:t>
            </a:r>
            <a:r>
              <a:rPr lang="en" altLang="zh-CN" sz="1200" dirty="0">
                <a:solidFill>
                  <a:srgbClr val="C8C8D2"/>
                </a:solidFill>
              </a:rPr>
              <a:t>OpenResearcher-30B-A3B</a:t>
            </a:r>
            <a:r>
              <a:rPr lang="zh-CN" altLang="en" sz="1200" dirty="0">
                <a:solidFill>
                  <a:srgbClr val="C8C8D2"/>
                </a:solidFill>
              </a:rPr>
              <a:t>）。</a:t>
            </a:r>
            <a:r>
              <a:rPr lang="en" altLang="zh-CN" sz="1200" dirty="0">
                <a:solidFill>
                  <a:srgbClr val="C8C8D2"/>
                </a:solidFill>
              </a:rPr>
              <a:t>RL</a:t>
            </a:r>
            <a:r>
              <a:rPr lang="zh-CN" altLang="en-US" sz="1200" dirty="0">
                <a:solidFill>
                  <a:srgbClr val="C8C8D2"/>
                </a:solidFill>
              </a:rPr>
              <a:t>阶段提供一致的 </a:t>
            </a:r>
            <a:r>
              <a:rPr lang="en-US" altLang="zh-CN" sz="1200" dirty="0">
                <a:solidFill>
                  <a:srgbClr val="C8C8D2"/>
                </a:solidFill>
              </a:rPr>
              <a:t>+2~6% </a:t>
            </a:r>
            <a:r>
              <a:rPr lang="zh-CN" altLang="en-US" sz="1200" dirty="0">
                <a:solidFill>
                  <a:srgbClr val="C8C8D2"/>
                </a:solidFill>
              </a:rPr>
              <a:t>增益。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 err="1">
                <a:solidFill>
                  <a:srgbClr val="6366F1"/>
                </a:solidFill>
              </a:rPr>
              <a:t>实验分析</a:t>
            </a:r>
            <a:endParaRPr sz="1100" b="1" dirty="0">
              <a:solidFill>
                <a:srgbClr val="6366F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SFT 作为能力初始化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 (w/o Resampling)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 (+4.0)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 (+1.8)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SFT 阶段发现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Turn-Aware重采样带来一致增益 (+4.0 / +1.8)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4B模型在BrowseComp-ZH上超越30B基线 (35.7 vs 26.8)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在有限数据下，数据质量 &gt; 模型规模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开放轨迹中仍有大量未挖掘价值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14800"/>
            <a:ext cx="653796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4251960"/>
            <a:ext cx="6172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Scale ≠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C8C8D2"/>
                </a:solidFill>
              </a:rPr>
              <a:t>在有限开放数据监督下，模型规模不是决定性因素。数据的清洗、对齐和利用方式同样重要，甚至更为关键。精心设计的SFT管线可以在4B模型上解锁远超预期的性能。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FFFFFF"/>
                </a:solidFill>
              </a:rPr>
              <a:t>RL </a:t>
            </a:r>
            <a:r>
              <a:rPr sz="3000" b="1" dirty="0" err="1">
                <a:solidFill>
                  <a:srgbClr val="FFFFFF"/>
                </a:solidFill>
              </a:rPr>
              <a:t>作为能力稳定化</a:t>
            </a:r>
            <a:r>
              <a:rPr sz="3000" b="1" dirty="0">
                <a:solidFill>
                  <a:srgbClr val="FFFFFF"/>
                </a:solidFill>
              </a:rPr>
              <a:t> — </a:t>
            </a:r>
            <a:r>
              <a:rPr sz="3000" b="1" dirty="0" err="1">
                <a:solidFill>
                  <a:srgbClr val="FFFFFF"/>
                </a:solidFill>
              </a:rPr>
              <a:t>Pass@K</a:t>
            </a:r>
            <a:r>
              <a:rPr sz="3000" b="1" dirty="0">
                <a:solidFill>
                  <a:srgbClr val="FFFFFF"/>
                </a:solidFill>
              </a:rPr>
              <a:t> </a:t>
            </a:r>
            <a:r>
              <a:rPr sz="3000" b="1" dirty="0" err="1">
                <a:solidFill>
                  <a:srgbClr val="FFFFFF"/>
                </a:solidFill>
              </a:rPr>
              <a:t>分析</a:t>
            </a:r>
            <a:endParaRPr sz="3000" b="1" dirty="0">
              <a:solidFill>
                <a:srgbClr val="FFFF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9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Pass@4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Pass@8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Pass@16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40.1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44.3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41.5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Δ (RL - SFT)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+1.4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+0.7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RL改进在 Pass@1 最大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改进随K增大递减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SFT模型已有很高的潜在能力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RL让这种能力更容易被触发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RL后的行为变化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格式错误：↓ 67%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冗余搜索：↓ 45%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有效浏览比：↑ 23% 增加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轨迹长度方差：↓ 38% 减少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核心结论：RL 的主要贡献不是提升能力上限，而是降低执行方差、提升单次尝试的成功概率。SFT提供高天花板，RL降低方差 — RL应被理解为"能力稳定化"阶段。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4B模型的巨大潜力 — 对标前沿模型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622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4622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BC-ZH Pass@2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22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378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378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378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GPT-5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134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2134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134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Gemini-3-Pro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42900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重要发现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0332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重要发现：4B模型具有很大的性能潜力。在多次采样下，4B模型可以超越30B级别的Tongyi-DR-30B，甚至在特定K值下超过 GPT-5 High 和 Gemini-3-Pro 等前沿闭源模型。这说明模型规模不是瓶颈，关键在于如何稳定地激发这些能力。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091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从工程视角的启示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834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对于实际部署场景，如果可以接受多次尝试（如后台批量研究任务），4B模型的性价比极高。而对于需要单次成功的场景，RL稳定化至关重要 — 这也是我们设计IGPO++的核心动机。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工具使用模式分析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rPr dirty="0"/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82.73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87.87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17.27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12.13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89.90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93.45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10.10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6.55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GAIA (Text-Only)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67.32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32.68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xBench-DS-2505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68.44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83.25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31.56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16.75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61.16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38.84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76.29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84.12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23.71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rPr dirty="0"/>
                        <a:t>15.88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79" y="507492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617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❌ 错误轨迹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高搜索率 </a:t>
            </a:r>
            <a:r>
              <a:rPr lang="en-US" altLang="zh-CN" sz="1200" dirty="0">
                <a:solidFill>
                  <a:srgbClr val="C8C8D2"/>
                </a:solidFill>
              </a:rPr>
              <a:t>(84.12%)</a:t>
            </a:r>
            <a:r>
              <a:rPr lang="zh-CN" altLang="en-US" sz="1200" dirty="0">
                <a:solidFill>
                  <a:srgbClr val="C8C8D2"/>
                </a:solidFill>
              </a:rPr>
              <a:t>，低浏览率 </a:t>
            </a:r>
            <a:r>
              <a:rPr lang="en-US" altLang="zh-CN" sz="1200" dirty="0">
                <a:solidFill>
                  <a:srgbClr val="C8C8D2"/>
                </a:solidFill>
              </a:rPr>
              <a:t>(15.88%)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过度依赖浅层检索，缺乏深度证据检验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80" y="502920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5120640"/>
            <a:ext cx="617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8C8D2"/>
                </a:solidFill>
              </a:rPr>
              <a:t>✅ 正确轨迹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较低搜索率 </a:t>
            </a:r>
            <a:r>
              <a:rPr lang="en-US" altLang="zh-CN" sz="1200" dirty="0">
                <a:solidFill>
                  <a:srgbClr val="C8C8D2"/>
                </a:solidFill>
              </a:rPr>
              <a:t>(76.29%)</a:t>
            </a:r>
            <a:r>
              <a:rPr lang="zh-CN" altLang="en-US" sz="1200" dirty="0">
                <a:solidFill>
                  <a:srgbClr val="C8C8D2"/>
                </a:solidFill>
              </a:rPr>
              <a:t>，较高浏览率 </a:t>
            </a:r>
            <a:r>
              <a:rPr lang="en-US" altLang="zh-CN" sz="1200" dirty="0">
                <a:solidFill>
                  <a:srgbClr val="C8C8D2"/>
                </a:solidFill>
              </a:rPr>
              <a:t>(23.71%)</a:t>
            </a:r>
            <a:br>
              <a:rPr lang="zh-CN" altLang="en-US" sz="1200" dirty="0"/>
            </a:br>
            <a:r>
              <a:rPr lang="zh-CN" altLang="en-US" sz="1200" dirty="0">
                <a:solidFill>
                  <a:srgbClr val="C8C8D2"/>
                </a:solidFill>
              </a:rPr>
              <a:t>超越检索，深入收集细粒度证据支撑推理</a:t>
            </a:r>
          </a:p>
          <a:p>
            <a:endParaRPr sz="1200" b="0" dirty="0">
              <a:solidFill>
                <a:srgbClr val="C8C8D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667512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799" y="681228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关键失败模式：小模型 Deep Research Agent 倾向于过度依赖 Search 而不充分使用 Browse。Search提供粗粒度信号，Browse才能获取详细证据。这也是我们设计 Browse-Aware IG 分配的动机。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关键贡献与核心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多阶段清洗管线：环境对齐 → 工具剪枝 → 去重 → 正确性过滤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数据利用效率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Turn-Aware重采样：长程轨迹5×上采样，&gt;50 turns占比 60% →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稠密过程奖励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IG内在奖励 + Turn-Level格式惩罚 + 折扣累积 + IGPO++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核心信息：在有限开放数据监督下，提升数据质量和有效数据利用可以弥补显著的规模差距。一个精心训练的4B模型可以达到极具竞争力的前沿性能。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技术总结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653796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" altLang="zh-CN" sz="1200" dirty="0">
                <a:solidFill>
                  <a:srgbClr val="C8C8D2"/>
                </a:solidFill>
              </a:rPr>
              <a:t>• SFT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zh-CN" altLang="en-US" sz="1200" dirty="0">
                <a:solidFill>
                  <a:srgbClr val="C8C8D2"/>
                </a:solidFill>
              </a:rPr>
              <a:t>严格清洗 </a:t>
            </a:r>
            <a:r>
              <a:rPr lang="en-US" altLang="zh-CN" sz="1200" dirty="0">
                <a:solidFill>
                  <a:srgbClr val="C8C8D2"/>
                </a:solidFill>
              </a:rPr>
              <a:t>+ </a:t>
            </a:r>
            <a:r>
              <a:rPr lang="en" altLang="zh-CN" sz="1200" dirty="0">
                <a:solidFill>
                  <a:srgbClr val="C8C8D2"/>
                </a:solidFill>
              </a:rPr>
              <a:t>Turn-Aware</a:t>
            </a:r>
            <a:r>
              <a:rPr lang="zh-CN" altLang="en-US" sz="1200" dirty="0">
                <a:solidFill>
                  <a:srgbClr val="C8C8D2"/>
                </a:solidFill>
              </a:rPr>
              <a:t>重采样 </a:t>
            </a:r>
            <a:r>
              <a:rPr lang="en-US" altLang="zh-CN" sz="1200" dirty="0">
                <a:solidFill>
                  <a:srgbClr val="C8C8D2"/>
                </a:solidFill>
              </a:rPr>
              <a:t>= </a:t>
            </a:r>
            <a:r>
              <a:rPr lang="zh-CN" altLang="en-US" sz="1200" dirty="0">
                <a:solidFill>
                  <a:srgbClr val="C8C8D2"/>
                </a:solidFill>
              </a:rPr>
              <a:t>能力初始化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en" altLang="zh-CN" sz="1200" dirty="0">
                <a:solidFill>
                  <a:srgbClr val="C8C8D2"/>
                </a:solidFill>
              </a:rPr>
              <a:t>RL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en" altLang="zh-CN" sz="1200" dirty="0">
                <a:solidFill>
                  <a:srgbClr val="C8C8D2"/>
                </a:solidFill>
              </a:rPr>
              <a:t>Turn-Level</a:t>
            </a:r>
            <a:r>
              <a:rPr lang="zh-CN" altLang="en-US" sz="1200" dirty="0">
                <a:solidFill>
                  <a:srgbClr val="C8C8D2"/>
                </a:solidFill>
              </a:rPr>
              <a:t>稠密奖励 </a:t>
            </a:r>
            <a:r>
              <a:rPr lang="en-US" altLang="zh-CN" sz="1200" dirty="0">
                <a:solidFill>
                  <a:srgbClr val="C8C8D2"/>
                </a:solidFill>
              </a:rPr>
              <a:t>+ </a:t>
            </a:r>
            <a:r>
              <a:rPr lang="en" altLang="zh-CN" sz="1200" dirty="0">
                <a:solidFill>
                  <a:srgbClr val="C8C8D2"/>
                </a:solidFill>
              </a:rPr>
              <a:t>IGPO = </a:t>
            </a:r>
            <a:r>
              <a:rPr lang="zh-CN" altLang="en-US" sz="1200" dirty="0">
                <a:solidFill>
                  <a:srgbClr val="C8C8D2"/>
                </a:solidFill>
              </a:rPr>
              <a:t>能力稳定化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en" altLang="zh-CN" sz="1200" dirty="0">
                <a:solidFill>
                  <a:srgbClr val="C8C8D2"/>
                </a:solidFill>
              </a:rPr>
              <a:t>RL</a:t>
            </a:r>
            <a:r>
              <a:rPr lang="zh-CN" altLang="en-US" sz="1200" dirty="0">
                <a:solidFill>
                  <a:srgbClr val="C8C8D2"/>
                </a:solidFill>
              </a:rPr>
              <a:t>本质：不是扩展天花板，而是降低执行方差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zh-CN" altLang="en-US" sz="1200" dirty="0">
                <a:solidFill>
                  <a:srgbClr val="C8C8D2"/>
                </a:solidFill>
              </a:rPr>
              <a:t>关键失败模式：</a:t>
            </a:r>
            <a:r>
              <a:rPr lang="en" altLang="zh-CN" sz="1200" dirty="0">
                <a:solidFill>
                  <a:srgbClr val="C8C8D2"/>
                </a:solidFill>
              </a:rPr>
              <a:t>Search</a:t>
            </a:r>
            <a:r>
              <a:rPr lang="zh-CN" altLang="en-US" sz="1200" dirty="0">
                <a:solidFill>
                  <a:srgbClr val="C8C8D2"/>
                </a:solidFill>
              </a:rPr>
              <a:t>过度 → </a:t>
            </a:r>
            <a:r>
              <a:rPr lang="en" altLang="zh-CN" sz="1200" dirty="0">
                <a:solidFill>
                  <a:srgbClr val="C8C8D2"/>
                </a:solidFill>
              </a:rPr>
              <a:t>Browse</a:t>
            </a:r>
            <a:r>
              <a:rPr lang="zh-CN" altLang="en-US" sz="1200" dirty="0">
                <a:solidFill>
                  <a:srgbClr val="C8C8D2"/>
                </a:solidFill>
              </a:rPr>
              <a:t>不足</a:t>
            </a:r>
          </a:p>
          <a:p>
            <a:pPr>
              <a:spcAft>
                <a:spcPts val="800"/>
              </a:spcAft>
            </a:pPr>
            <a:endParaRPr sz="1200" b="0" dirty="0">
              <a:solidFill>
                <a:srgbClr val="C8C8D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5236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开放资源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937760"/>
            <a:ext cx="6537960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" altLang="zh-CN" sz="1200" dirty="0">
                <a:solidFill>
                  <a:srgbClr val="C8C8D2"/>
                </a:solidFill>
              </a:rPr>
              <a:t>• Model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en" altLang="zh-CN" sz="1200" dirty="0">
                <a:solidFill>
                  <a:srgbClr val="C8C8D2"/>
                </a:solidFill>
              </a:rPr>
              <a:t>DR-Venus-4B (SFT + RL)</a:t>
            </a:r>
          </a:p>
          <a:p>
            <a:pPr>
              <a:spcAft>
                <a:spcPts val="800"/>
              </a:spcAft>
            </a:pPr>
            <a:r>
              <a:rPr lang="en" altLang="zh-CN" sz="1200" dirty="0">
                <a:solidFill>
                  <a:srgbClr val="C8C8D2"/>
                </a:solidFill>
              </a:rPr>
              <a:t>• SFT Data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en" altLang="zh-CN" sz="1200" dirty="0">
                <a:solidFill>
                  <a:srgbClr val="C8C8D2"/>
                </a:solidFill>
              </a:rPr>
              <a:t>~10K </a:t>
            </a:r>
            <a:r>
              <a:rPr lang="zh-CN" altLang="en-US" sz="1200" dirty="0">
                <a:solidFill>
                  <a:srgbClr val="C8C8D2"/>
                </a:solidFill>
              </a:rPr>
              <a:t>清洗后轨迹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en" altLang="zh-CN" sz="1200" dirty="0">
                <a:solidFill>
                  <a:srgbClr val="C8C8D2"/>
                </a:solidFill>
              </a:rPr>
              <a:t>RL Data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en" altLang="zh-CN" sz="1200" dirty="0">
                <a:solidFill>
                  <a:srgbClr val="C8C8D2"/>
                </a:solidFill>
              </a:rPr>
              <a:t>~1K query-answer</a:t>
            </a:r>
            <a:r>
              <a:rPr lang="zh-CN" altLang="en-US" sz="1200" dirty="0">
                <a:solidFill>
                  <a:srgbClr val="C8C8D2"/>
                </a:solidFill>
              </a:rPr>
              <a:t>对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en" altLang="zh-CN" sz="1200" dirty="0">
                <a:solidFill>
                  <a:srgbClr val="C8C8D2"/>
                </a:solidFill>
              </a:rPr>
              <a:t>Code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zh-CN" altLang="en-US" sz="1200" dirty="0">
                <a:solidFill>
                  <a:srgbClr val="C8C8D2"/>
                </a:solidFill>
              </a:rPr>
              <a:t>训练和推理管线</a:t>
            </a:r>
          </a:p>
          <a:p>
            <a:pPr>
              <a:spcAft>
                <a:spcPts val="800"/>
              </a:spcAft>
            </a:pPr>
            <a:r>
              <a:rPr lang="en-US" altLang="zh-CN" sz="1200" dirty="0">
                <a:solidFill>
                  <a:srgbClr val="C8C8D2"/>
                </a:solidFill>
              </a:rPr>
              <a:t>• </a:t>
            </a:r>
            <a:r>
              <a:rPr lang="en" altLang="zh-CN" sz="1200" dirty="0">
                <a:solidFill>
                  <a:srgbClr val="C8C8D2"/>
                </a:solidFill>
              </a:rPr>
              <a:t>Paper</a:t>
            </a:r>
            <a:r>
              <a:rPr lang="zh-CN" altLang="en" sz="1200" dirty="0">
                <a:solidFill>
                  <a:srgbClr val="C8C8D2"/>
                </a:solidFill>
              </a:rPr>
              <a:t>：</a:t>
            </a:r>
            <a:r>
              <a:rPr lang="en" altLang="zh-CN" sz="1200" dirty="0">
                <a:solidFill>
                  <a:srgbClr val="C8C8D2"/>
                </a:solidFill>
              </a:rPr>
              <a:t>IGPO</a:t>
            </a:r>
            <a:r>
              <a:rPr lang="zh-CN" altLang="en-US" sz="1200" dirty="0">
                <a:solidFill>
                  <a:srgbClr val="C8C8D2"/>
                </a:solidFill>
              </a:rPr>
              <a:t>中稿 </a:t>
            </a:r>
            <a:r>
              <a:rPr lang="en" altLang="zh-CN" sz="1200" dirty="0">
                <a:solidFill>
                  <a:srgbClr val="C8C8D2"/>
                </a:solidFill>
              </a:rPr>
              <a:t>ICLR 2026</a:t>
            </a:r>
          </a:p>
          <a:p>
            <a:pPr>
              <a:spcAft>
                <a:spcPts val="800"/>
              </a:spcAft>
            </a:pPr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dirty="0">
                <a:solidFill>
                  <a:srgbClr val="C8C8D2"/>
                </a:solidFill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</a:rPr>
              <a:t>Venus Team, Ant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4862</Words>
  <Application>Microsoft Macintosh PowerPoint</Application>
  <PresentationFormat>自定义</PresentationFormat>
  <Paragraphs>545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yong deng</cp:lastModifiedBy>
  <cp:revision>104</cp:revision>
  <dcterms:created xsi:type="dcterms:W3CDTF">2013-01-27T09:14:16Z</dcterms:created>
  <dcterms:modified xsi:type="dcterms:W3CDTF">2026-04-21T17:37:58Z</dcterms:modified>
  <cp:category/>
</cp:coreProperties>
</file>