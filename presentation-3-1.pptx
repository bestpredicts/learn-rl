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01" d="100"/>
          <a:sy n="101" d="100"/>
        </p:scale>
        <p:origin x="2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技术分享大会 · 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DR-Venus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8C8D2"/>
                </a:solidFill>
              </a:rPr>
              <a:t>仅用10K开放数据，打造前沿边缘端深度研究智能体Toward Frontier Edge-Scale Deep Research Agents with Only 10K Open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08080"/>
                </a:solidFill>
              </a:rPr>
              <a:t>Venus Team, Ant Group ICLR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目录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</a:rPr>
              <a:t>Part I: 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8C8D2"/>
                </a:solidFill>
              </a:rPr>
              <a:t>• Deep Research Agent典型流程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8C8D2"/>
                </a:solidFill>
              </a:rPr>
              <a:t>• 核心挑战与方案概览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8C8D2"/>
                </a:solidFill>
              </a:rPr>
              <a:t>• 问题形式化定义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</a:rPr>
              <a:t>Part II: 核心技术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8C8D2"/>
                </a:solidFill>
              </a:rPr>
              <a:t>• 研究一：高效可扩展的数据清洗与SFT框架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8C8D2"/>
                </a:solidFill>
              </a:rPr>
              <a:t>• 研究二：高效的过程奖励机制设计 (IGPO++)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</a:rPr>
              <a:t>Part III: 实验结果与分析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28600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8C8D2"/>
                </a:solidFill>
              </a:rPr>
              <a:t>• 整体Benchmark性能对比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8C8D2"/>
                </a:solidFill>
              </a:rPr>
              <a:t>• SFT作为能力初始化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8C8D2"/>
                </a:solidFill>
              </a:rPr>
              <a:t>• RL作为能力稳定化 (Pass@K分析)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8C8D2"/>
                </a:solidFill>
              </a:rPr>
              <a:t>• 工具使用模式分析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</a:rPr>
              <a:t>Part IV: 总结与展望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11480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8C8D2"/>
                </a:solidFill>
              </a:rPr>
              <a:t>• 关键贡献与Takeaways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8C8D2"/>
                </a:solidFill>
              </a:rPr>
              <a:t>• 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Deep Research Agent 典型流程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82880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用户问题 Complex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推理 &amp; 规划 Reasoning &amp;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搜索 Search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浏览 Browse &amp; Extract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182880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35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综合回答 Final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292608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108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66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多轮搜索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31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通过搜索API获取外部知识，反复迭代检索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292608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57800" y="3108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566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深度浏览 Browse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931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从网页中提取细粒度证据，支撑推理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92608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3108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566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证据综合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931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整合多源证据，生成结构化研究报告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54880"/>
            <a:ext cx="13350240" cy="73152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59" y="4892040"/>
            <a:ext cx="1298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核心特征：不同于标准QA，Deep Research Agent 不能仅依赖参数化知识 — 它必须通过50-200+轮的交互主动获取、整合外部信息，是一个典型的长程决策问题。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核心挑战与方案概览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数据侧挑战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缺乏高质量的QA数据以及轨迹数据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算法侧挑战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长程任务下标准GRPO收敛慢、数据利用效率低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Infra侧挑战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需要构建支撑训练、推理等全流程的基建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3350240" cy="54864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70332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D700"/>
                </a:solidFill>
              </a:rPr>
              <a:t>我们的方案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977639"/>
            <a:ext cx="12984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我们的方案：从0到1构建了完整的评估和训练流程，支撑算法迭代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核心技术一：高效可扩展的数据框架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多阶段数据清洗管线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Turn-Aware重采样策略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规模化生产SFT和RL的训练数据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38912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核心技术二：高效过程奖励机制 ICLR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84632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基于信息增益(IG)的内在过程奖励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Turn-Level格式惩罚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折扣累积奖励 + IGPO++优化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问题形式化定义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35024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29844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交互轨迹 (Trajectory)： 给定用户查询 q，Agent 生成交互轨迹： H = (q, (u1, o1), (u2, o2), ..., (uT-1, oT-1), uT) 其中 ut = (τt, at) 为第t轮输出，τt 为推理过程，at ∈ A 为动作。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动作空间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Search：通过搜索API检索外部知识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Browse/Visit：访问网页提取细粒度证据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Answer：综合证据生成最终回答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2004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核心优化目标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65760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Stage 1 (SFT)：从监督轨迹学习基本能力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Stage 2 (RL)：通过强化学习提升执行稳定性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关键约束：仅有 ~10K 开放轨迹数据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864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6235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核心问题：如何在有限的开放数据监督下，训练出强力的边缘端 Deep Research Agent？本质上是提升数据质量和提高数据利用效率的问题。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方法总览：两阶段训练方案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2880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开放数据 REDSearcher Trajectories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Stage 1: Agentic SFT 能力初始化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Stage 2: Agentic RL 能力稳定化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82880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DR-Venus 前沿4B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1: Agentic SFT — 能力初始化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多阶段严格数据清洗管线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环境对齐 (Environment Alignment)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Turn-Aware重采样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正确性过滤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7432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2: Agentic RL — 能力稳定化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20040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信息增益 (IG) 内在奖励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Turn-Level格式惩罚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折扣累积奖励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IGPO++策略优化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864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56235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核心洞察：SFT 初始化能力天花板，RL 降低执行方差。在有限数据下，提升数据质量和数据利用效率至关重要 — Quality &gt; Quantity for small models。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研究一：数据清洗管线 — 提升数据质量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8288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环境对齐 Environment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488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将所有轨迹统一到推理管线相同的交互格式（消息schema、系统提示、工具调用格式），减少训练-推理不匹配。10,001 → 10,001 条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7432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非法工具剪枝 Disallowed-Tool Pruning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0632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移除非search/visit的工具调用（如PythonInterpreter）。影响1,064条轨迹，移除3,378个非法工具调用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6576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重复调用去除 Duplicate Removal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3977639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移除重复的search/visit调用及其配对响应。影响6,821条轨迹，移除15,728个重复交互（主要为重复visit事件）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5720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5720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正确性过滤 Correctness 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48920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使用 Qwen3-235B-A22B 判断最终答案正确性。10,000 → 9,365 条 (93.65% 保留率)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4864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5321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54864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Turn-Aware重采样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58064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对长程轨迹进行上采样，提升有效数据利用。9,365 → 18,745 实例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Turn-Aware 重采样 — 提升数据利用效率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3350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轨迹长度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采样权重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重采样前占比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重采样后占比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变化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0-50 turns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1×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39.72%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19.85%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↓ 19.87%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51-100 turns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2×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46.99%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46.94%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&gt;100 turns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5×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13.29%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33.21%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↑ 19.92%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1148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42519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核心逻辑：长程轨迹包含更多有价值的监督信号 — 重复工具交互、证据聚合、持续规划。重采样将 &gt;50 turns 的占比从 60.28% 提升至 80.15%。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29200"/>
            <a:ext cx="1335024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51663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SFT训练目标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440680"/>
            <a:ext cx="1298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SFT训练目标： LSFT(θ) = - ΣH ∈ DSFT Σi ∈ M(H) log πθ(xi | x&lt;i) 其中 M(H) 为Agent生成的token位置（推理 τt 和动作 at），排除环境观测 ot。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为什么小模型对数据质量更敏感？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小模型的敏感性分析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噪声放大：格式错误在长轨迹中级联传播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容量有限：无法像大模型一样"忽略"坏模式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灾难性遗忘：更容易被噪声数据覆盖有用知识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错误传播：单轮错误影响后续所有动作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数据清洗统计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52360" y="2286000"/>
          <a:ext cx="6537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原始轨迹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10,001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工具剪枝后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去重后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正确性过滤后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9,365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重采样后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18,745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38912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452628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核心洞察：环境对齐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800600"/>
            <a:ext cx="1298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将所有轨迹统一到与推理管线完全相同的交互格式（消息schema、系统提示、工具调用参数）。这减少了训练-推理不匹配 — 对小模型而言尤为关键，因为小模型无法像大模型那样跨格式变化泛化。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864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56235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为什么不用更多数据？对小模型而言 Quality &gt; Quantity。我们的实验表明，10K高质量轨迹优于100K噪声轨迹（4B模型），而30B+模型则相反。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研究二：高效过程奖励机制 ICLR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经典 Agentic RL 训练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整条轨迹正确 → 所有token正奖励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整条轨迹错误 → 所有token负奖励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问题：大量数据没有梯度！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现有过程奖励方法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2860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需要额外训练奖励模型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推理成本高、延迟大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长程场景下判断困难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问题：低效 &amp; 高成本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653796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4709160"/>
            <a:ext cx="6172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❌ Advantage Collapse</a:t>
            </a:r>
            <a:br/>
            <a:r>
              <a:rPr sz="1200" b="0">
                <a:solidFill>
                  <a:srgbClr val="C8C8D2"/>
                </a:solidFill>
              </a:rPr>
              <a:t>当同组所有轨迹结果相同时，Advantage全为0，没有梯度信号</a:t>
            </a:r>
            <a:br/>
            <a:r>
              <a:rPr sz="1200" b="0">
                <a:solidFill>
                  <a:srgbClr val="C8C8D2"/>
                </a:solidFill>
              </a:rPr>
              <a:t>长程任务中正确答案稀少，多数组内轨迹全错 → 大量数据浪费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4572000"/>
            <a:ext cx="653796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4709160"/>
            <a:ext cx="6172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✅ 我们的方案：信息增益奖励</a:t>
            </a:r>
            <a:br/>
            <a:r>
              <a:rPr sz="1200" b="0">
                <a:solidFill>
                  <a:srgbClr val="C8C8D2"/>
                </a:solidFill>
              </a:rPr>
              <a:t>每轮交互都有内在奖励信号，不受结果稀疏性影响</a:t>
            </a:r>
            <a:br/>
            <a:r>
              <a:rPr sz="1200" b="0">
                <a:solidFill>
                  <a:srgbClr val="C8C8D2"/>
                </a:solidFill>
              </a:rPr>
              <a:t>不依赖外部模型，实现简单，训练稳定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基于信息增益的内在过程奖励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35024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信息增益 (IG) 奖励定义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1298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信息增益 (IG) 奖励定义： 设 ground truth 为 g = (g1, ..., gL)，第t轮交互历史 h≤t： rtIG = log πθ(g | h≤t) - log πθ(g | h≤t-1), 1 ≤ t &lt; T 即：当前轮次使模型对正确答案的置信度提升了多少。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2004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内在奖励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无需外部奖励模型，仅依赖策略自身概率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32004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3383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840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Turn-Level稠密信号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206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每轮交互都有奖励，不受结果稀疏性影响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32004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0" y="3383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840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实现简单稳定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206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只需计算log概率差值，无需额外模型推理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51663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Browse-Aware IG分配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440680"/>
            <a:ext cx="1298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Browse轮次通常暴露更具体的证据，而Search轮次主要是探索性的。我们仅在Browse轮次计算IG奖励，并将其分配给前置的Search轮次，减少噪声信号的干扰。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Turn-Level 奖励设计细节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6366F1"/>
                </a:solidFill>
              </a:rPr>
              <a:t>r̂t</a:t>
            </a:r>
            <a:r>
              <a:rPr sz="1400" b="1" dirty="0">
                <a:solidFill>
                  <a:srgbClr val="6366F1"/>
                </a:solidFill>
              </a:rPr>
              <a:t> = rt, if valid format; otherwise -</a:t>
            </a:r>
            <a:r>
              <a:rPr sz="1400" b="1" dirty="0" err="1">
                <a:solidFill>
                  <a:srgbClr val="6366F1"/>
                </a:solidFill>
              </a:rPr>
              <a:t>λfmt</a:t>
            </a:r>
            <a:r>
              <a:rPr sz="1400" b="1" dirty="0">
                <a:solidFill>
                  <a:srgbClr val="6366F1"/>
                </a:solidFill>
              </a:rPr>
              <a:t> </a:t>
            </a:r>
            <a:r>
              <a:rPr sz="1400" b="1" dirty="0" err="1">
                <a:solidFill>
                  <a:srgbClr val="6366F1"/>
                </a:solidFill>
              </a:rPr>
              <a:t>格式正确的轮次保留原始奖励，格式错误的轮次替换为惩罚项</a:t>
            </a:r>
            <a:r>
              <a:rPr sz="1400" b="1" dirty="0">
                <a:solidFill>
                  <a:srgbClr val="6366F1"/>
                </a:solidFill>
              </a:rPr>
              <a:t> -</a:t>
            </a:r>
            <a:r>
              <a:rPr sz="1400" b="1" dirty="0" err="1">
                <a:solidFill>
                  <a:srgbClr val="6366F1"/>
                </a:solidFill>
              </a:rPr>
              <a:t>λfmt</a:t>
            </a:r>
            <a:r>
              <a:rPr sz="1400" b="1" dirty="0">
                <a:solidFill>
                  <a:srgbClr val="6366F1"/>
                </a:solidFill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97180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s = min( max(MO, η) / (MIG + δ), smax ), r̄t = s · r̃t (for IG turns) η=0.3, δ=10-8, smax=10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97764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R̃t = Σk=tT γk-t r̄k, γ=0.95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51663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为什么需要折扣累积？长程任务中，当前轮次的决策会影响后续多轮。折扣累积提供了包含未来奖励信息的稠密监督信号，是长程信用分配的关键。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IGPO++：策略优化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35024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IGPO++ 目标函数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1298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IGPO++ 目标函数 JIGPO(θ) = EH [ 1/(G·|u|) Σi=1G Σk=1|ui| min( πθ(ui,k|q, ui,&lt;k) / πθ_old(ui,k|q, ui,&lt;k), 1-ε, 1+ε ) · R̃i,k - β · DKL(πθ || πref)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关键组件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GRPO-style rollout：每个query采样G=8条轨迹，提高数据效率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Turn-level信用分配：R̃i,k 分配给轮次内每个token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Clip机制：防止策略更新过大 (ε=0.2)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KL惩罚：保持策略接近参考策略 (β)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2004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相比标准RL的优势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65760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稠密监督：Turn-level奖励 vs 轨迹级奖励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更好的信用分配：奖励反映信息进展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格式稳定性：精细粒度惩罚控制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长程感知：折扣累积捕获未来依赖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无外部依赖：IG奖励为内在信号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实现细节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1: Agentic SFT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86000"/>
          <a:ext cx="6537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Backbone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Qwen3-4B-Thinking-2507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Trainer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verl FSDP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GPUs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 × A100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Global Batch Size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1e-5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Max Length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200K tokens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Sequence Parallel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Size 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2: Agentic RL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52360" y="2286000"/>
          <a:ext cx="6537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IGPO++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Trainer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verl vLLM + FSDP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GPUs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16 × A100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Max Context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256K tokens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Max Generation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8,192 tokens/turn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Group Size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Discount γ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rPr dirty="0"/>
                        <a:t>0.95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6126480"/>
            <a:ext cx="1335024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626364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Inference 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6537960"/>
            <a:ext cx="12984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Temperature: 1.0 | Top-p: 0.95 | Top-k: 20 | Presence Penalty: 1.1 Max Steps: 200 | Max Token Budget: 256K | Summarization: Qwen3-30B-A3B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70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整体性能对比：六大Benchmark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3350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BrowseComp-ZH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GAIA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xBench-DS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DeepSearchQA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WebExplorer-8B-RL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15.7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50.0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53.7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17.8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AgentCPM-Explore-4B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24.1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63.9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70.0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35.7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65.4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69.0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37.7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DR-Venus-4B-RL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37.7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64.4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74.7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39.6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OpenResearcher-30B-A3B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23.0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25.6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75.7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74.1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Tongyi-DR-30B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55.0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62.0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REDSearcher-30B-A3B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48.5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50.5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82.0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73.7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23240" y="5681980"/>
            <a:ext cx="13583920" cy="94742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580644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D700"/>
                </a:solidFill>
              </a:rPr>
              <a:t>核心结果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6080760"/>
            <a:ext cx="12984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C8C8D2"/>
                </a:solidFill>
              </a:rPr>
              <a:t>核心结果：DR-Venus-4B-SFT </a:t>
            </a:r>
            <a:r>
              <a:rPr sz="1200" b="0" dirty="0" err="1">
                <a:solidFill>
                  <a:srgbClr val="C8C8D2"/>
                </a:solidFill>
              </a:rPr>
              <a:t>在所有</a:t>
            </a:r>
            <a:r>
              <a:rPr sz="1200" b="0" dirty="0">
                <a:solidFill>
                  <a:srgbClr val="C8C8D2"/>
                </a:solidFill>
              </a:rPr>
              <a:t> ≤9B Agent 中达到SOTA，且在多个指标上超越部分30B模型（如 OpenResearcher-30B-A3B）。</a:t>
            </a:r>
            <a:r>
              <a:rPr sz="1200" b="0" dirty="0" err="1">
                <a:solidFill>
                  <a:srgbClr val="C8C8D2"/>
                </a:solidFill>
              </a:rPr>
              <a:t>RL阶段提供一致的</a:t>
            </a:r>
            <a:r>
              <a:rPr sz="1200" b="0" dirty="0">
                <a:solidFill>
                  <a:srgbClr val="C8C8D2"/>
                </a:solidFill>
              </a:rPr>
              <a:t> +2~6% </a:t>
            </a:r>
            <a:r>
              <a:rPr sz="1200" b="0" dirty="0" err="1">
                <a:solidFill>
                  <a:srgbClr val="C8C8D2"/>
                </a:solidFill>
              </a:rPr>
              <a:t>增益</a:t>
            </a:r>
            <a:r>
              <a:rPr sz="1200" b="0" dirty="0">
                <a:solidFill>
                  <a:srgbClr val="C8C8D2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SFT 作为能力初始化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934516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6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BrowseComp-ZH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REDSearcher-30B-A3B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34.7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 (w/o Resampling)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22.8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33.9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 (+4.0)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35.7 (+1.8)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SFT 阶段发现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Turn-Aware重采样带来一致增益 (+4.0 / +1.8)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4B模型在BrowseComp-ZH上超越30B基线 (35.7 vs 26.8)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在有限数据下，数据质量 &gt; 模型规模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开放轨迹中仍有大量未挖掘价值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关键洞察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114800"/>
            <a:ext cx="6537960" cy="13716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4251960"/>
            <a:ext cx="6172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Scale ≠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在有限开放数据监督下，模型规模不是决定性因素。数据的清洗、对齐和利用方式同样重要，甚至更为关键。精心设计的SFT管线可以在4B模型上解锁远超预期的性能。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RL 作为能力稳定化 — Pass@K 分析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934516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9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9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9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9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9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Pass@1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Pass@4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Pass@8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Pass@16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35.2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40.1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44.3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DR-Venus-4B-RL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37.8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41.5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45.0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Δ (RL - SFT)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+2.3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+2.6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+1.4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+0.7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关键观察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RL改进在 Pass@1 最大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改进随K增大递减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SFT模型已有很高的潜在能力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RL让这种能力更容易被触发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RL后的行为变化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1148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格式错误：↓ 67% 减少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冗余搜索：↓ 45% 减少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有效浏览比：↑ 23% 增加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轨迹长度方差：↓ 38% 减少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6928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580644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核心结论：RL 的主要贡献不是提升能力上限，而是降低执行方差、提升单次尝试的成功概率。SFT提供高天花板，RL降低方差 — RL应被理解为"能力稳定化"阶段。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4B模型的巨大潜力 — 对标前沿模型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 Pass@4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Tongyi-DR-30B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622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4622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BC-ZH Pass@2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622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Tongyi-DR-30B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378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8378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 Pass@10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378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GPT-5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2134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2134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 Pass@14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134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Gemini-3-Pro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1335024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42900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D700"/>
                </a:solidFill>
              </a:rPr>
              <a:t>重要发现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703320"/>
            <a:ext cx="1298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重要发现：4B模型具有很大的性能潜力。在多次采样下，4B模型可以超越30B级别的Tongyi-DR-30B，甚至在特定K值下超过 GPT-5 High 和 Gemini-3-Pro 等前沿闭源模型。这说明模型规模不是瓶颈，关键在于如何稳定地激发这些能力。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72000"/>
            <a:ext cx="1335024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7091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从工程视角的启示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983480"/>
            <a:ext cx="1298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对于实际部署场景，如果可以接受多次尝试（如后台批量研究任务），4B模型的性价比极高。而对于需要单次成功的场景，RL稳定化至关重要 — 这也是我们设计IGPO++的核心动机。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工具使用模式分析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3350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Search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Search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Correct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Wrong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Correct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Wrong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BrowseComp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82.73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87.87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17.27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12.13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BrowseComp-ZH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89.90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93.45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10.10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6.55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GAIA (Text-Only)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67.32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70.22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32.68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29.78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xBench-DS-2505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68.44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83.25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31.56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16.75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DeepSearchQA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61.16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65.78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38.84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34.22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76.29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84.12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23.71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15.88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389120"/>
            <a:ext cx="653796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4526280"/>
            <a:ext cx="6172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❌ 错误轨迹</a:t>
            </a:r>
            <a:br/>
            <a:r>
              <a:rPr sz="1200" b="0">
                <a:solidFill>
                  <a:srgbClr val="C8C8D2"/>
                </a:solidFill>
              </a:rPr>
              <a:t>高搜索率 (84.12%)，低浏览率 (15.88%)</a:t>
            </a:r>
            <a:br/>
            <a:r>
              <a:rPr sz="1200" b="0">
                <a:solidFill>
                  <a:srgbClr val="C8C8D2"/>
                </a:solidFill>
              </a:rPr>
              <a:t>过度依赖浅层检索，缺乏深度证据检验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4389120"/>
            <a:ext cx="653796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4526280"/>
            <a:ext cx="6172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✅ 正确轨迹</a:t>
            </a:r>
            <a:br/>
            <a:r>
              <a:rPr sz="1200" b="0">
                <a:solidFill>
                  <a:srgbClr val="C8C8D2"/>
                </a:solidFill>
              </a:rPr>
              <a:t>较低搜索率 (76.29%)，较高浏览率 (23.71%)</a:t>
            </a:r>
            <a:br/>
            <a:r>
              <a:rPr sz="1200" b="0">
                <a:solidFill>
                  <a:srgbClr val="C8C8D2"/>
                </a:solidFill>
              </a:rPr>
              <a:t>超越检索，深入收集细粒度证据支撑推理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6928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580644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关键失败模式：小模型 Deep Research Agent 倾向于过度依赖 Search 而不充分使用 Browse。Search提供粗粒度信号，Browse才能获取详细证据。这也是我们设计 Browse-Aware IG 分配的动机。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关键贡献与核心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数据质量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多阶段清洗管线：环境对齐 → 工具剪枝 → 去重 → 正确性过滤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数据利用效率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Turn-Aware重采样：长程轨迹5×上采样，&gt;50 turns占比 60% → 80%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稠密过程奖励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IG内在奖励 + Turn-Level格式惩罚 + 折扣累积 + IGPO++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70332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核心信息：在有限开放数据监督下，提升数据质量和有效数据利用可以弥补显著的规模差距。一个精心训练的4B模型可以达到极具竞争力的前沿性能。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技术总结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SFT：严格清洗 + Turn-Aware重采样 = 能力初始化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RL：Turn-Level稠密奖励 + IGPO++ = 能力稳定化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RL本质：不是扩展天花板，而是降低执行方差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关键失败模式：Search过度 → Browse不足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48056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开放资源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93776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Model：DR-Venus-4B (SFT + RL)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SFT Data：~10K 清洗后轨迹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 Data：~1K query-answer对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Code：训练和推理管线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Paper：IGPO++ 中稿 ICLR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1922</Words>
  <Application>Microsoft Macintosh PowerPoint</Application>
  <PresentationFormat>自定义</PresentationFormat>
  <Paragraphs>462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yong deng</cp:lastModifiedBy>
  <cp:revision>5</cp:revision>
  <dcterms:created xsi:type="dcterms:W3CDTF">2013-01-27T09:14:16Z</dcterms:created>
  <dcterms:modified xsi:type="dcterms:W3CDTF">2026-04-20T22:43:08Z</dcterms:modified>
  <cp:category/>
</cp:coreProperties>
</file>